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5963900" cy="8915400"/>
  <p:notesSz cx="6858000" cy="9144000"/>
  <p:embeddedFontLst>
    <p:embeddedFont>
      <p:font typeface="Bank Gothic Light" charset="1" panose="020B0607020203060204"/>
      <p:regular r:id="rId14"/>
    </p:embeddedFont>
    <p:embeddedFont>
      <p:font typeface="Arial" charset="1" panose="020B0604020202020204"/>
      <p:regular r:id="rId15"/>
    </p:embeddedFont>
    <p:embeddedFont>
      <p:font typeface="Verdana Bold" charset="1" panose="020B0804030504040204"/>
      <p:regular r:id="rId16"/>
    </p:embeddedFont>
    <p:embeddedFont>
      <p:font typeface="Verdana" charset="1" panose="020B0604030504040204"/>
      <p:regular r:id="rId17"/>
    </p:embeddedFont>
    <p:embeddedFont>
      <p:font typeface="Jaturat Bold Italics" charset="1" panose="00000000000000000000"/>
      <p:regular r:id="rId18"/>
    </p:embeddedFont>
    <p:embeddedFont>
      <p:font typeface="Bank Gothic Medium" charset="1" panose="020B0807020203060204"/>
      <p:regular r:id="rId19"/>
    </p:embeddedFont>
    <p:embeddedFont>
      <p:font typeface="Times New Roman Bold" charset="1" panose="02020803070505020304"/>
      <p:regular r:id="rId20"/>
    </p:embeddedFont>
    <p:embeddedFont>
      <p:font typeface="Press Start 2P" charset="1" panose="00000500000000000000"/>
      <p:regular r:id="rId21"/>
    </p:embeddedFont>
    <p:embeddedFont>
      <p:font typeface="Jaturat Semi-Bold Italics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png" Type="http://schemas.openxmlformats.org/officeDocument/2006/relationships/image"/><Relationship Id="rId21" Target="../media/image20.jpe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jpeg" Type="http://schemas.openxmlformats.org/officeDocument/2006/relationships/image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jpeg" Type="http://schemas.openxmlformats.org/officeDocument/2006/relationships/image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jpeg" Type="http://schemas.openxmlformats.org/officeDocument/2006/relationships/image"/><Relationship Id="rId2" Target="../media/image28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jpeg" Type="http://schemas.openxmlformats.org/officeDocument/2006/relationships/image"/><Relationship Id="rId2" Target="../media/image28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38.png" Type="http://schemas.openxmlformats.org/officeDocument/2006/relationships/image"/><Relationship Id="rId12" Target="../media/image22.png" Type="http://schemas.openxmlformats.org/officeDocument/2006/relationships/image"/><Relationship Id="rId13" Target="../media/image20.jpeg" Type="http://schemas.openxmlformats.org/officeDocument/2006/relationships/image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34.jpe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100" y="0"/>
            <a:ext cx="15935325" cy="8934450"/>
            <a:chOff x="0" y="0"/>
            <a:chExt cx="21247100" cy="11912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47100" cy="11912600"/>
            </a:xfrm>
            <a:custGeom>
              <a:avLst/>
              <a:gdLst/>
              <a:ahLst/>
              <a:cxnLst/>
              <a:rect r="r" b="b" t="t" l="l"/>
              <a:pathLst>
                <a:path h="11912600" w="21247100">
                  <a:moveTo>
                    <a:pt x="0" y="0"/>
                  </a:moveTo>
                  <a:lnTo>
                    <a:pt x="21247100" y="0"/>
                  </a:lnTo>
                  <a:lnTo>
                    <a:pt x="21247100" y="11912600"/>
                  </a:lnTo>
                  <a:lnTo>
                    <a:pt x="0" y="1191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8100" y="0"/>
            <a:ext cx="15935325" cy="4848225"/>
            <a:chOff x="0" y="0"/>
            <a:chExt cx="21247100" cy="6464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247100" cy="6464300"/>
            </a:xfrm>
            <a:custGeom>
              <a:avLst/>
              <a:gdLst/>
              <a:ahLst/>
              <a:cxnLst/>
              <a:rect r="r" b="b" t="t" l="l"/>
              <a:pathLst>
                <a:path h="6464300" w="21247100">
                  <a:moveTo>
                    <a:pt x="0" y="0"/>
                  </a:moveTo>
                  <a:lnTo>
                    <a:pt x="21247100" y="0"/>
                  </a:lnTo>
                  <a:lnTo>
                    <a:pt x="21247100" y="6464300"/>
                  </a:lnTo>
                  <a:lnTo>
                    <a:pt x="0" y="646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8100" y="4648200"/>
            <a:ext cx="15935325" cy="4286250"/>
            <a:chOff x="0" y="0"/>
            <a:chExt cx="21247100" cy="571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47100" cy="5715000"/>
            </a:xfrm>
            <a:custGeom>
              <a:avLst/>
              <a:gdLst/>
              <a:ahLst/>
              <a:cxnLst/>
              <a:rect r="r" b="b" t="t" l="l"/>
              <a:pathLst>
                <a:path h="5715000" w="21247100">
                  <a:moveTo>
                    <a:pt x="0" y="0"/>
                  </a:moveTo>
                  <a:lnTo>
                    <a:pt x="21247100" y="0"/>
                  </a:lnTo>
                  <a:lnTo>
                    <a:pt x="21247100" y="5715000"/>
                  </a:lnTo>
                  <a:lnTo>
                    <a:pt x="0" y="571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4648200"/>
            <a:ext cx="15973425" cy="200025"/>
            <a:chOff x="0" y="0"/>
            <a:chExt cx="21297900" cy="266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297900" cy="266700"/>
            </a:xfrm>
            <a:custGeom>
              <a:avLst/>
              <a:gdLst/>
              <a:ahLst/>
              <a:cxnLst/>
              <a:rect r="r" b="b" t="t" l="l"/>
              <a:pathLst>
                <a:path h="26670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776442" y="2038350"/>
            <a:ext cx="10164861" cy="238506"/>
            <a:chOff x="0" y="0"/>
            <a:chExt cx="13553148" cy="3180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553187" cy="318008"/>
            </a:xfrm>
            <a:custGeom>
              <a:avLst/>
              <a:gdLst/>
              <a:ahLst/>
              <a:cxnLst/>
              <a:rect r="r" b="b" t="t" l="l"/>
              <a:pathLst>
                <a:path h="318008" w="13553187">
                  <a:moveTo>
                    <a:pt x="0" y="0"/>
                  </a:moveTo>
                  <a:lnTo>
                    <a:pt x="13553187" y="0"/>
                  </a:lnTo>
                  <a:lnTo>
                    <a:pt x="13553187" y="318008"/>
                  </a:lnTo>
                  <a:lnTo>
                    <a:pt x="0" y="3180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38" r="0" b="-333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741514" y="3324266"/>
            <a:ext cx="2311635" cy="131842"/>
            <a:chOff x="0" y="0"/>
            <a:chExt cx="3340100" cy="190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40100" cy="190500"/>
            </a:xfrm>
            <a:custGeom>
              <a:avLst/>
              <a:gdLst/>
              <a:ahLst/>
              <a:cxnLst/>
              <a:rect r="r" b="b" t="t" l="l"/>
              <a:pathLst>
                <a:path h="190500" w="3340100">
                  <a:moveTo>
                    <a:pt x="0" y="0"/>
                  </a:moveTo>
                  <a:lnTo>
                    <a:pt x="3340100" y="0"/>
                  </a:lnTo>
                  <a:lnTo>
                    <a:pt x="3340100" y="190500"/>
                  </a:lnTo>
                  <a:lnTo>
                    <a:pt x="0" y="19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6360" r="0" b="-635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041964" y="3313233"/>
            <a:ext cx="1670739" cy="151522"/>
            <a:chOff x="0" y="0"/>
            <a:chExt cx="2404961" cy="2181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04999" cy="218059"/>
            </a:xfrm>
            <a:custGeom>
              <a:avLst/>
              <a:gdLst/>
              <a:ahLst/>
              <a:cxnLst/>
              <a:rect r="r" b="b" t="t" l="l"/>
              <a:pathLst>
                <a:path h="218059" w="2404999">
                  <a:moveTo>
                    <a:pt x="0" y="0"/>
                  </a:moveTo>
                  <a:lnTo>
                    <a:pt x="2404999" y="0"/>
                  </a:lnTo>
                  <a:lnTo>
                    <a:pt x="2404999" y="218059"/>
                  </a:lnTo>
                  <a:lnTo>
                    <a:pt x="0" y="218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3517" r="1" b="-23535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61975" y="5210175"/>
            <a:ext cx="200025" cy="752475"/>
            <a:chOff x="0" y="0"/>
            <a:chExt cx="266700" cy="10033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66700" cy="1003300"/>
            </a:xfrm>
            <a:custGeom>
              <a:avLst/>
              <a:gdLst/>
              <a:ahLst/>
              <a:cxnLst/>
              <a:rect r="r" b="b" t="t" l="l"/>
              <a:pathLst>
                <a:path h="10033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1003300"/>
                  </a:lnTo>
                  <a:lnTo>
                    <a:pt x="0" y="1003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66825" y="6267450"/>
            <a:ext cx="257175" cy="247650"/>
            <a:chOff x="0" y="0"/>
            <a:chExt cx="342900" cy="330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2900" cy="330200"/>
            </a:xfrm>
            <a:custGeom>
              <a:avLst/>
              <a:gdLst/>
              <a:ahLst/>
              <a:cxnLst/>
              <a:rect r="r" b="b" t="t" l="l"/>
              <a:pathLst>
                <a:path h="3302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30200"/>
                  </a:lnTo>
                  <a:lnTo>
                    <a:pt x="0" y="33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66825" y="6762750"/>
            <a:ext cx="257175" cy="266700"/>
            <a:chOff x="0" y="0"/>
            <a:chExt cx="342900" cy="355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2900" cy="355600"/>
            </a:xfrm>
            <a:custGeom>
              <a:avLst/>
              <a:gdLst/>
              <a:ahLst/>
              <a:cxnLst/>
              <a:rect r="r" b="b" t="t" l="l"/>
              <a:pathLst>
                <a:path h="3556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47775" y="7258050"/>
            <a:ext cx="276225" cy="266700"/>
            <a:chOff x="0" y="0"/>
            <a:chExt cx="368300" cy="355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8300" cy="355600"/>
            </a:xfrm>
            <a:custGeom>
              <a:avLst/>
              <a:gdLst/>
              <a:ahLst/>
              <a:cxnLst/>
              <a:rect r="r" b="b" t="t" l="l"/>
              <a:pathLst>
                <a:path h="355600" w="368300">
                  <a:moveTo>
                    <a:pt x="0" y="0"/>
                  </a:moveTo>
                  <a:lnTo>
                    <a:pt x="368300" y="0"/>
                  </a:lnTo>
                  <a:lnTo>
                    <a:pt x="3683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306425" y="5019675"/>
            <a:ext cx="2295525" cy="2247900"/>
            <a:chOff x="0" y="0"/>
            <a:chExt cx="3060700" cy="2997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60700" cy="2997200"/>
            </a:xfrm>
            <a:custGeom>
              <a:avLst/>
              <a:gdLst/>
              <a:ahLst/>
              <a:cxnLst/>
              <a:rect r="r" b="b" t="t" l="l"/>
              <a:pathLst>
                <a:path h="2997200" w="3060700">
                  <a:moveTo>
                    <a:pt x="0" y="0"/>
                  </a:moveTo>
                  <a:lnTo>
                    <a:pt x="3060700" y="0"/>
                  </a:lnTo>
                  <a:lnTo>
                    <a:pt x="3060700" y="2997200"/>
                  </a:lnTo>
                  <a:lnTo>
                    <a:pt x="0" y="299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0" y="7258050"/>
            <a:ext cx="2095500" cy="1304925"/>
            <a:chOff x="0" y="0"/>
            <a:chExt cx="2794000" cy="17399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94000" cy="1739900"/>
            </a:xfrm>
            <a:custGeom>
              <a:avLst/>
              <a:gdLst/>
              <a:ahLst/>
              <a:cxnLst/>
              <a:rect r="r" b="b" t="t" l="l"/>
              <a:pathLst>
                <a:path h="1739900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1739900"/>
                  </a:lnTo>
                  <a:lnTo>
                    <a:pt x="0" y="1739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895475" y="8181975"/>
            <a:ext cx="11991975" cy="381000"/>
            <a:chOff x="0" y="0"/>
            <a:chExt cx="15989300" cy="508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989300" cy="508000"/>
            </a:xfrm>
            <a:custGeom>
              <a:avLst/>
              <a:gdLst/>
              <a:ahLst/>
              <a:cxnLst/>
              <a:rect r="r" b="b" t="t" l="l"/>
              <a:pathLst>
                <a:path h="508000" w="15989300">
                  <a:moveTo>
                    <a:pt x="0" y="0"/>
                  </a:moveTo>
                  <a:lnTo>
                    <a:pt x="15989300" y="0"/>
                  </a:lnTo>
                  <a:lnTo>
                    <a:pt x="15989300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687425" y="8001000"/>
            <a:ext cx="2286000" cy="561975"/>
            <a:chOff x="0" y="0"/>
            <a:chExt cx="3048000" cy="7493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048000" cy="749300"/>
            </a:xfrm>
            <a:custGeom>
              <a:avLst/>
              <a:gdLst/>
              <a:ahLst/>
              <a:cxnLst/>
              <a:rect r="r" b="b" t="t" l="l"/>
              <a:pathLst>
                <a:path h="7493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749300"/>
                  </a:lnTo>
                  <a:lnTo>
                    <a:pt x="0" y="749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449425" y="4467225"/>
            <a:ext cx="962025" cy="190500"/>
            <a:chOff x="0" y="0"/>
            <a:chExt cx="1282700" cy="254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82700" cy="254000"/>
            </a:xfrm>
            <a:custGeom>
              <a:avLst/>
              <a:gdLst/>
              <a:ahLst/>
              <a:cxnLst/>
              <a:rect r="r" b="b" t="t" l="l"/>
              <a:pathLst>
                <a:path h="254000" w="1282700">
                  <a:moveTo>
                    <a:pt x="0" y="0"/>
                  </a:moveTo>
                  <a:lnTo>
                    <a:pt x="1282700" y="0"/>
                  </a:lnTo>
                  <a:lnTo>
                    <a:pt x="1282700" y="254000"/>
                  </a:lnTo>
                  <a:lnTo>
                    <a:pt x="0" y="25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42867" y="34623"/>
            <a:ext cx="1933575" cy="828675"/>
            <a:chOff x="0" y="0"/>
            <a:chExt cx="2578100" cy="11049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5781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578100">
                  <a:moveTo>
                    <a:pt x="0" y="0"/>
                  </a:moveTo>
                  <a:lnTo>
                    <a:pt x="2578100" y="0"/>
                  </a:lnTo>
                  <a:lnTo>
                    <a:pt x="2578100" y="11049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0" y="27851"/>
            <a:ext cx="590550" cy="828675"/>
            <a:chOff x="0" y="0"/>
            <a:chExt cx="787400" cy="11049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874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787400">
                  <a:moveTo>
                    <a:pt x="0" y="0"/>
                  </a:moveTo>
                  <a:lnTo>
                    <a:pt x="787400" y="0"/>
                  </a:lnTo>
                  <a:lnTo>
                    <a:pt x="787400" y="11049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-466" t="0" r="-467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4064891" y="76724"/>
            <a:ext cx="1819275" cy="1038225"/>
            <a:chOff x="0" y="0"/>
            <a:chExt cx="2425700" cy="13843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425700" cy="1384300"/>
            </a:xfrm>
            <a:custGeom>
              <a:avLst/>
              <a:gdLst/>
              <a:ahLst/>
              <a:cxnLst/>
              <a:rect r="r" b="b" t="t" l="l"/>
              <a:pathLst>
                <a:path h="1384300" w="2425700">
                  <a:moveTo>
                    <a:pt x="0" y="0"/>
                  </a:moveTo>
                  <a:lnTo>
                    <a:pt x="2425700" y="0"/>
                  </a:lnTo>
                  <a:lnTo>
                    <a:pt x="2425700" y="1384300"/>
                  </a:lnTo>
                  <a:lnTo>
                    <a:pt x="0" y="138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65" r="0" b="-66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4572000" y="3200400"/>
            <a:ext cx="6903720" cy="429768"/>
            <a:chOff x="0" y="0"/>
            <a:chExt cx="9204960" cy="57302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204960" cy="573024"/>
            </a:xfrm>
            <a:custGeom>
              <a:avLst/>
              <a:gdLst/>
              <a:ahLst/>
              <a:cxnLst/>
              <a:rect r="r" b="b" t="t" l="l"/>
              <a:pathLst>
                <a:path h="573024" w="9204960">
                  <a:moveTo>
                    <a:pt x="0" y="0"/>
                  </a:moveTo>
                  <a:lnTo>
                    <a:pt x="9204960" y="0"/>
                  </a:lnTo>
                  <a:lnTo>
                    <a:pt x="9204960" y="573024"/>
                  </a:lnTo>
                  <a:lnTo>
                    <a:pt x="0" y="573024"/>
                  </a:lnTo>
                  <a:close/>
                </a:path>
              </a:pathLst>
            </a:custGeom>
            <a:blipFill>
              <a:blip r:embed="rId21">
                <a:alphaModFix amt="0"/>
              </a:blip>
              <a:stretch>
                <a:fillRect l="0" t="-263004" r="0" b="-26300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9204960" cy="5825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60"/>
                </a:lnSpc>
              </a:pPr>
              <a:r>
                <a:rPr lang="en-US" sz="1550">
                  <a:solidFill>
                    <a:srgbClr val="4AF56D"/>
                  </a:solidFill>
                  <a:latin typeface="Bank Gothic Light"/>
                  <a:ea typeface="Bank Gothic Light"/>
                  <a:cs typeface="Bank Gothic Light"/>
                  <a:sym typeface="Bank Gothic Light"/>
                </a:rPr>
                <a:t>SKILL PASSPORT  |  VERIFIED SKILLS FROM REAL WORK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135624" y="3749040"/>
            <a:ext cx="1630680" cy="579120"/>
            <a:chOff x="0" y="0"/>
            <a:chExt cx="2174240" cy="7721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74240" cy="772160"/>
            </a:xfrm>
            <a:custGeom>
              <a:avLst/>
              <a:gdLst/>
              <a:ahLst/>
              <a:cxnLst/>
              <a:rect r="r" b="b" t="t" l="l"/>
              <a:pathLst>
                <a:path h="772160" w="2174240">
                  <a:moveTo>
                    <a:pt x="0" y="0"/>
                  </a:moveTo>
                  <a:lnTo>
                    <a:pt x="2174240" y="0"/>
                  </a:lnTo>
                  <a:lnTo>
                    <a:pt x="2174240" y="772160"/>
                  </a:lnTo>
                  <a:lnTo>
                    <a:pt x="0" y="77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-93" t="0" r="-93" b="0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0290608" y="3648905"/>
            <a:ext cx="1910553" cy="434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D1DACD"/>
                </a:solidFill>
                <a:latin typeface="Arial"/>
                <a:ea typeface="Arial"/>
                <a:cs typeface="Arial"/>
                <a:sym typeface="Arial"/>
              </a:rPr>
              <a:t>POWERED BY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2759966" y="3630168"/>
            <a:ext cx="1304925" cy="371475"/>
            <a:chOff x="0" y="0"/>
            <a:chExt cx="1739900" cy="4953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739900" cy="495300"/>
            </a:xfrm>
            <a:custGeom>
              <a:avLst/>
              <a:gdLst/>
              <a:ahLst/>
              <a:cxnLst/>
              <a:rect r="r" b="b" t="t" l="l"/>
              <a:pathLst>
                <a:path h="495300" w="1739900">
                  <a:moveTo>
                    <a:pt x="0" y="0"/>
                  </a:moveTo>
                  <a:lnTo>
                    <a:pt x="1739900" y="0"/>
                  </a:lnTo>
                  <a:lnTo>
                    <a:pt x="17399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-489" t="0" r="-488" b="0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950976" y="5193792"/>
            <a:ext cx="9857232" cy="53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4AF56D"/>
                </a:solidFill>
                <a:latin typeface="Verdana Bold"/>
                <a:ea typeface="Verdana Bold"/>
                <a:cs typeface="Verdana Bold"/>
                <a:sym typeface="Verdana Bold"/>
              </a:rPr>
              <a:t>TEAM DETAILS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73352" y="6153912"/>
            <a:ext cx="1360627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0"/>
              </a:lnSpc>
            </a:pPr>
            <a:r>
              <a:rPr lang="en-US" sz="2150">
                <a:solidFill>
                  <a:srgbClr val="F5F8F5"/>
                </a:solidFill>
                <a:latin typeface="Verdana"/>
                <a:ea typeface="Verdana"/>
                <a:cs typeface="Verdana"/>
                <a:sym typeface="Verdana"/>
              </a:rPr>
              <a:t>Team name: CodeCatalysts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673352" y="6675120"/>
            <a:ext cx="1360627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0"/>
              </a:lnSpc>
            </a:pPr>
            <a:r>
              <a:rPr lang="en-US" sz="2150">
                <a:solidFill>
                  <a:srgbClr val="F5F8F5"/>
                </a:solidFill>
                <a:latin typeface="Verdana"/>
                <a:ea typeface="Verdana"/>
                <a:cs typeface="Verdana"/>
                <a:sym typeface="Verdana"/>
              </a:rPr>
              <a:t>Team leader: Ved Shah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673352" y="7196328"/>
            <a:ext cx="13606272" cy="331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0"/>
              </a:lnSpc>
            </a:pPr>
            <a:r>
              <a:rPr lang="en-US" sz="2150">
                <a:solidFill>
                  <a:srgbClr val="F5F8F5"/>
                </a:solidFill>
                <a:latin typeface="Verdana"/>
                <a:ea typeface="Verdana"/>
                <a:cs typeface="Verdana"/>
                <a:sym typeface="Verdana"/>
              </a:rPr>
              <a:t>Project: IM-03 Skill Passport: Verified Skills from Real Work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4810713" y="1680875"/>
            <a:ext cx="6547128" cy="178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25"/>
              </a:lnSpc>
            </a:pPr>
            <a:r>
              <a:rPr lang="en-US" b="true" sz="8518" i="true">
                <a:solidFill>
                  <a:srgbClr val="7ED957"/>
                </a:solidFill>
                <a:latin typeface="Jaturat Bold Italics"/>
                <a:ea typeface="Jaturat Bold Italics"/>
                <a:cs typeface="Jaturat Bold Italics"/>
                <a:sym typeface="Jaturat Bold Italics"/>
              </a:rPr>
              <a:t>CODE APEX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107" y="1"/>
            <a:ext cx="15954318" cy="8934450"/>
            <a:chOff x="0" y="0"/>
            <a:chExt cx="21272424" cy="11912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72373" cy="11912600"/>
            </a:xfrm>
            <a:custGeom>
              <a:avLst/>
              <a:gdLst/>
              <a:ahLst/>
              <a:cxnLst/>
              <a:rect r="r" b="b" t="t" l="l"/>
              <a:pathLst>
                <a:path h="11912600" w="21272373">
                  <a:moveTo>
                    <a:pt x="0" y="0"/>
                  </a:moveTo>
                  <a:lnTo>
                    <a:pt x="21272373" y="0"/>
                  </a:lnTo>
                  <a:lnTo>
                    <a:pt x="21272373" y="11912600"/>
                  </a:lnTo>
                  <a:lnTo>
                    <a:pt x="0" y="1191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" t="0" r="-1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89565"/>
            <a:ext cx="15965462" cy="200654"/>
            <a:chOff x="0" y="0"/>
            <a:chExt cx="21287283" cy="2675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287232" cy="267589"/>
            </a:xfrm>
            <a:custGeom>
              <a:avLst/>
              <a:gdLst/>
              <a:ahLst/>
              <a:cxnLst/>
              <a:rect r="r" b="b" t="t" l="l"/>
              <a:pathLst>
                <a:path h="267589" w="21287232">
                  <a:moveTo>
                    <a:pt x="0" y="0"/>
                  </a:moveTo>
                  <a:lnTo>
                    <a:pt x="21287232" y="0"/>
                  </a:lnTo>
                  <a:lnTo>
                    <a:pt x="21287232" y="267589"/>
                  </a:lnTo>
                  <a:lnTo>
                    <a:pt x="0" y="267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1" t="0" r="-31" b="1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107" y="1819275"/>
            <a:ext cx="3621129" cy="563728"/>
            <a:chOff x="0" y="0"/>
            <a:chExt cx="4828172" cy="7516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28159" cy="751586"/>
            </a:xfrm>
            <a:custGeom>
              <a:avLst/>
              <a:gdLst/>
              <a:ahLst/>
              <a:cxnLst/>
              <a:rect r="r" b="b" t="t" l="l"/>
              <a:pathLst>
                <a:path h="751586" w="4828159">
                  <a:moveTo>
                    <a:pt x="0" y="0"/>
                  </a:moveTo>
                  <a:lnTo>
                    <a:pt x="4828159" y="0"/>
                  </a:lnTo>
                  <a:lnTo>
                    <a:pt x="4828159" y="751586"/>
                  </a:lnTo>
                  <a:lnTo>
                    <a:pt x="0" y="7515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-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8014249"/>
            <a:ext cx="15965462" cy="391744"/>
            <a:chOff x="0" y="0"/>
            <a:chExt cx="21287283" cy="5223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287232" cy="522351"/>
            </a:xfrm>
            <a:custGeom>
              <a:avLst/>
              <a:gdLst/>
              <a:ahLst/>
              <a:cxnLst/>
              <a:rect r="r" b="b" t="t" l="l"/>
              <a:pathLst>
                <a:path h="522351" w="21287232">
                  <a:moveTo>
                    <a:pt x="0" y="0"/>
                  </a:moveTo>
                  <a:lnTo>
                    <a:pt x="21287232" y="0"/>
                  </a:lnTo>
                  <a:lnTo>
                    <a:pt x="21287232" y="522351"/>
                  </a:lnTo>
                  <a:lnTo>
                    <a:pt x="0" y="5223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1" t="0" r="-31" b="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58986" y="8205273"/>
            <a:ext cx="964997" cy="200654"/>
            <a:chOff x="0" y="0"/>
            <a:chExt cx="1286662" cy="2675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6637" cy="267589"/>
            </a:xfrm>
            <a:custGeom>
              <a:avLst/>
              <a:gdLst/>
              <a:ahLst/>
              <a:cxnLst/>
              <a:rect r="r" b="b" t="t" l="l"/>
              <a:pathLst>
                <a:path h="267589" w="1286637">
                  <a:moveTo>
                    <a:pt x="0" y="0"/>
                  </a:moveTo>
                  <a:lnTo>
                    <a:pt x="1286637" y="0"/>
                  </a:lnTo>
                  <a:lnTo>
                    <a:pt x="1286637" y="267589"/>
                  </a:lnTo>
                  <a:lnTo>
                    <a:pt x="0" y="267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2" b="18"/>
              </a:stretch>
            </a:blipFill>
          </p:spPr>
        </p:sp>
      </p:grpSp>
      <p:sp>
        <p:nvSpPr>
          <p:cNvPr name="TextBox 12" id="12" descr="$PPTXTitle"/>
          <p:cNvSpPr txBox="true"/>
          <p:nvPr/>
        </p:nvSpPr>
        <p:spPr>
          <a:xfrm rot="0">
            <a:off x="748741" y="1409957"/>
            <a:ext cx="12247109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9"/>
              </a:lnSpc>
            </a:pPr>
            <a:r>
              <a:rPr lang="en-US" sz="4149" spc="494">
                <a:solidFill>
                  <a:srgbClr val="4AF56D"/>
                </a:solidFill>
                <a:latin typeface="Bank Gothic Light"/>
                <a:ea typeface="Bank Gothic Light"/>
                <a:cs typeface="Bank Gothic Light"/>
                <a:sym typeface="Bank Gothic Light"/>
              </a:rPr>
              <a:t>Problem statement &amp; Target Need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42867" y="34623"/>
            <a:ext cx="1933575" cy="828675"/>
            <a:chOff x="0" y="0"/>
            <a:chExt cx="2578100" cy="11049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781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578100">
                  <a:moveTo>
                    <a:pt x="0" y="0"/>
                  </a:moveTo>
                  <a:lnTo>
                    <a:pt x="2578100" y="0"/>
                  </a:lnTo>
                  <a:lnTo>
                    <a:pt x="2578100" y="11049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0" y="27851"/>
            <a:ext cx="590550" cy="828675"/>
            <a:chOff x="0" y="0"/>
            <a:chExt cx="787400" cy="11049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874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787400">
                  <a:moveTo>
                    <a:pt x="0" y="0"/>
                  </a:moveTo>
                  <a:lnTo>
                    <a:pt x="787400" y="0"/>
                  </a:lnTo>
                  <a:lnTo>
                    <a:pt x="787400" y="11049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66" t="0" r="-467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064891" y="76724"/>
            <a:ext cx="1819275" cy="1038225"/>
            <a:chOff x="0" y="0"/>
            <a:chExt cx="2425700" cy="13843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25700" cy="1384300"/>
            </a:xfrm>
            <a:custGeom>
              <a:avLst/>
              <a:gdLst/>
              <a:ahLst/>
              <a:cxnLst/>
              <a:rect r="r" b="b" t="t" l="l"/>
              <a:pathLst>
                <a:path h="1384300" w="2425700">
                  <a:moveTo>
                    <a:pt x="0" y="0"/>
                  </a:moveTo>
                  <a:lnTo>
                    <a:pt x="2425700" y="0"/>
                  </a:lnTo>
                  <a:lnTo>
                    <a:pt x="2425700" y="1384300"/>
                  </a:lnTo>
                  <a:lnTo>
                    <a:pt x="0" y="138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65" r="0" b="-66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80748" y="2739923"/>
            <a:ext cx="364093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spc="182">
                <a:solidFill>
                  <a:srgbClr val="7DD957"/>
                </a:solidFill>
                <a:latin typeface="Bank Gothic Light"/>
                <a:ea typeface="Bank Gothic Light"/>
                <a:cs typeface="Bank Gothic Light"/>
                <a:sym typeface="Bank Gothic Light"/>
              </a:rPr>
              <a:t>Who is affected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75376" y="4362212"/>
            <a:ext cx="381166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spc="241">
                <a:solidFill>
                  <a:srgbClr val="7DD957"/>
                </a:solidFill>
                <a:latin typeface="Bank Gothic Light"/>
                <a:ea typeface="Bank Gothic Light"/>
                <a:cs typeface="Bank Gothic Light"/>
                <a:sym typeface="Bank Gothic Light"/>
              </a:rPr>
              <a:t>The current gap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02198" y="6010323"/>
            <a:ext cx="452235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spc="245">
                <a:solidFill>
                  <a:srgbClr val="7DD957"/>
                </a:solidFill>
                <a:latin typeface="Bank Gothic Light"/>
                <a:ea typeface="Bank Gothic Light"/>
                <a:cs typeface="Bank Gothic Light"/>
                <a:sym typeface="Bank Gothic Light"/>
              </a:rPr>
              <a:t>Why it matters now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50980" y="4448175"/>
            <a:ext cx="257175" cy="247650"/>
            <a:chOff x="0" y="0"/>
            <a:chExt cx="342900" cy="330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2900" cy="330200"/>
            </a:xfrm>
            <a:custGeom>
              <a:avLst/>
              <a:gdLst/>
              <a:ahLst/>
              <a:cxnLst/>
              <a:rect r="r" b="b" t="t" l="l"/>
              <a:pathLst>
                <a:path h="3302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30200"/>
                  </a:lnTo>
                  <a:lnTo>
                    <a:pt x="0" y="33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50980" y="2856548"/>
            <a:ext cx="257175" cy="247650"/>
            <a:chOff x="0" y="0"/>
            <a:chExt cx="342900" cy="330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42900" cy="330200"/>
            </a:xfrm>
            <a:custGeom>
              <a:avLst/>
              <a:gdLst/>
              <a:ahLst/>
              <a:cxnLst/>
              <a:rect r="r" b="b" t="t" l="l"/>
              <a:pathLst>
                <a:path h="3302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30200"/>
                  </a:lnTo>
                  <a:lnTo>
                    <a:pt x="0" y="33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50980" y="6124575"/>
            <a:ext cx="257175" cy="247650"/>
            <a:chOff x="0" y="0"/>
            <a:chExt cx="342900" cy="330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2900" cy="330200"/>
            </a:xfrm>
            <a:custGeom>
              <a:avLst/>
              <a:gdLst/>
              <a:ahLst/>
              <a:cxnLst/>
              <a:rect r="r" b="b" t="t" l="l"/>
              <a:pathLst>
                <a:path h="3302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30200"/>
                  </a:lnTo>
                  <a:lnTo>
                    <a:pt x="0" y="33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14400" y="3182112"/>
            <a:ext cx="7964424" cy="923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5F8F5"/>
                </a:solidFill>
                <a:latin typeface="Verdana"/>
                <a:ea typeface="Verdana"/>
                <a:cs typeface="Verdana"/>
                <a:sym typeface="Verdana"/>
              </a:rPr>
              <a:t>Students and early-career job seekers need credible ways to prove skills. Recruiters and college placement cells need clear, quick-to-check evidence.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93664" y="4842100"/>
            <a:ext cx="8055864" cy="923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5F8F5"/>
                </a:solidFill>
                <a:latin typeface="Verdana"/>
                <a:ea typeface="Verdana"/>
                <a:cs typeface="Verdana"/>
                <a:sym typeface="Verdana"/>
              </a:rPr>
              <a:t>Résumés are self-reported, while proof is scattered across repositories, project documents, portfolios and certificates. It is difficult to separate claims from demonstrated work.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04408" y="6459617"/>
            <a:ext cx="8055864" cy="923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5F8F5"/>
                </a:solidFill>
                <a:latin typeface="Verdana"/>
                <a:ea typeface="Verdana"/>
                <a:cs typeface="Verdana"/>
                <a:sym typeface="Verdana"/>
              </a:rPr>
              <a:t>Internship screening needs practical signals, not keyword lists. Generative AI can connect work to skills—but every claim must be checked against real sources.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43739" y="2812332"/>
            <a:ext cx="223718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7DD957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THE NEED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662027" y="3264560"/>
            <a:ext cx="5623179" cy="1354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F5F8F5"/>
                </a:solidFill>
                <a:latin typeface="Verdana Bold"/>
                <a:ea typeface="Verdana Bold"/>
                <a:cs typeface="Verdana Bold"/>
                <a:sym typeface="Verdana Bold"/>
              </a:rPr>
              <a:t>A fast, transparent way to answer :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F5F8F5"/>
                </a:solidFill>
                <a:latin typeface="Verdana Bold"/>
                <a:ea typeface="Verdana Bold"/>
                <a:cs typeface="Verdana Bold"/>
                <a:sym typeface="Verdana Bold"/>
              </a:rPr>
              <a:t>“What has this person actually demonstrated?”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64875" y="4993015"/>
            <a:ext cx="5266944" cy="172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The trust gap is not a lack of skill lists. It is a lack of inspectable evidence behind each skill.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489" y="8963"/>
            <a:ext cx="15925800" cy="8925487"/>
            <a:chOff x="0" y="0"/>
            <a:chExt cx="21234400" cy="119006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34400" cy="11900662"/>
            </a:xfrm>
            <a:custGeom>
              <a:avLst/>
              <a:gdLst/>
              <a:ahLst/>
              <a:cxnLst/>
              <a:rect r="r" b="b" t="t" l="l"/>
              <a:pathLst>
                <a:path h="11900662" w="21234400">
                  <a:moveTo>
                    <a:pt x="0" y="0"/>
                  </a:moveTo>
                  <a:lnTo>
                    <a:pt x="21234400" y="0"/>
                  </a:lnTo>
                  <a:lnTo>
                    <a:pt x="21234400" y="11900662"/>
                  </a:lnTo>
                  <a:lnTo>
                    <a:pt x="0" y="119006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" t="0" r="-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9206" y="1114015"/>
            <a:ext cx="15916275" cy="200025"/>
            <a:chOff x="0" y="0"/>
            <a:chExt cx="21221700" cy="266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221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1221700">
                  <a:moveTo>
                    <a:pt x="0" y="0"/>
                  </a:moveTo>
                  <a:lnTo>
                    <a:pt x="21221700" y="0"/>
                  </a:lnTo>
                  <a:lnTo>
                    <a:pt x="21221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9" t="0" r="-2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6645" y="1943719"/>
            <a:ext cx="3609975" cy="561975"/>
            <a:chOff x="0" y="0"/>
            <a:chExt cx="4813300" cy="749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3300" cy="749300"/>
            </a:xfrm>
            <a:custGeom>
              <a:avLst/>
              <a:gdLst/>
              <a:ahLst/>
              <a:cxnLst/>
              <a:rect r="r" b="b" t="t" l="l"/>
              <a:pathLst>
                <a:path h="749300" w="4813300">
                  <a:moveTo>
                    <a:pt x="0" y="0"/>
                  </a:moveTo>
                  <a:lnTo>
                    <a:pt x="4813300" y="0"/>
                  </a:lnTo>
                  <a:lnTo>
                    <a:pt x="4813300" y="749300"/>
                  </a:lnTo>
                  <a:lnTo>
                    <a:pt x="0" y="749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9206" y="8017116"/>
            <a:ext cx="15916275" cy="390525"/>
            <a:chOff x="0" y="0"/>
            <a:chExt cx="21221700" cy="520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221700" cy="520700"/>
            </a:xfrm>
            <a:custGeom>
              <a:avLst/>
              <a:gdLst/>
              <a:ahLst/>
              <a:cxnLst/>
              <a:rect r="r" b="b" t="t" l="l"/>
              <a:pathLst>
                <a:path h="520700" w="21221700">
                  <a:moveTo>
                    <a:pt x="0" y="0"/>
                  </a:moveTo>
                  <a:lnTo>
                    <a:pt x="21221700" y="0"/>
                  </a:lnTo>
                  <a:lnTo>
                    <a:pt x="21221700" y="520700"/>
                  </a:lnTo>
                  <a:lnTo>
                    <a:pt x="0" y="520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9" t="0" r="-29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64891" y="8207550"/>
            <a:ext cx="962025" cy="200025"/>
            <a:chOff x="0" y="0"/>
            <a:chExt cx="1282700" cy="266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2700" cy="266700"/>
            </a:xfrm>
            <a:custGeom>
              <a:avLst/>
              <a:gdLst/>
              <a:ahLst/>
              <a:cxnLst/>
              <a:rect r="r" b="b" t="t" l="l"/>
              <a:pathLst>
                <a:path h="266700" w="1282700">
                  <a:moveTo>
                    <a:pt x="0" y="0"/>
                  </a:moveTo>
                  <a:lnTo>
                    <a:pt x="1282700" y="0"/>
                  </a:lnTo>
                  <a:lnTo>
                    <a:pt x="1282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42867" y="34623"/>
            <a:ext cx="1933575" cy="828675"/>
            <a:chOff x="0" y="0"/>
            <a:chExt cx="2578100" cy="11049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781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578100">
                  <a:moveTo>
                    <a:pt x="0" y="0"/>
                  </a:moveTo>
                  <a:lnTo>
                    <a:pt x="2578100" y="0"/>
                  </a:lnTo>
                  <a:lnTo>
                    <a:pt x="2578100" y="11049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27851"/>
            <a:ext cx="590550" cy="828675"/>
            <a:chOff x="0" y="0"/>
            <a:chExt cx="787400" cy="11049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74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787400">
                  <a:moveTo>
                    <a:pt x="0" y="0"/>
                  </a:moveTo>
                  <a:lnTo>
                    <a:pt x="787400" y="0"/>
                  </a:lnTo>
                  <a:lnTo>
                    <a:pt x="787400" y="11049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66" t="0" r="-467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064891" y="76724"/>
            <a:ext cx="1819275" cy="1038225"/>
            <a:chOff x="0" y="0"/>
            <a:chExt cx="2425700" cy="13843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25700" cy="1384300"/>
            </a:xfrm>
            <a:custGeom>
              <a:avLst/>
              <a:gdLst/>
              <a:ahLst/>
              <a:cxnLst/>
              <a:rect r="r" b="b" t="t" l="l"/>
              <a:pathLst>
                <a:path h="1384300" w="2425700">
                  <a:moveTo>
                    <a:pt x="0" y="0"/>
                  </a:moveTo>
                  <a:lnTo>
                    <a:pt x="2425700" y="0"/>
                  </a:lnTo>
                  <a:lnTo>
                    <a:pt x="2425700" y="1384300"/>
                  </a:lnTo>
                  <a:lnTo>
                    <a:pt x="0" y="138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65" r="0" b="-66"/>
              </a:stretch>
            </a:blipFill>
          </p:spPr>
        </p:sp>
      </p:grpSp>
      <p:sp>
        <p:nvSpPr>
          <p:cNvPr name="TextBox 18" id="18" descr="$PPTXTitle"/>
          <p:cNvSpPr txBox="true"/>
          <p:nvPr/>
        </p:nvSpPr>
        <p:spPr>
          <a:xfrm rot="0">
            <a:off x="748741" y="1448124"/>
            <a:ext cx="1158541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9"/>
              </a:lnSpc>
            </a:pPr>
            <a:r>
              <a:rPr lang="en-US" sz="4149" spc="289">
                <a:solidFill>
                  <a:srgbClr val="4AF56D"/>
                </a:solidFill>
                <a:latin typeface="Bank Gothic Light"/>
                <a:ea typeface="Bank Gothic Light"/>
                <a:cs typeface="Bank Gothic Light"/>
                <a:sym typeface="Bank Gothic Light"/>
              </a:rPr>
              <a:t>Proposed solution &amp; Innovation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42702" y="2192703"/>
            <a:ext cx="4664602" cy="1214599"/>
            <a:chOff x="0" y="0"/>
            <a:chExt cx="6219469" cy="161946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19444" cy="1619377"/>
            </a:xfrm>
            <a:custGeom>
              <a:avLst/>
              <a:gdLst/>
              <a:ahLst/>
              <a:cxnLst/>
              <a:rect r="r" b="b" t="t" l="l"/>
              <a:pathLst>
                <a:path h="1619377" w="6219444">
                  <a:moveTo>
                    <a:pt x="0" y="269875"/>
                  </a:moveTo>
                  <a:cubicBezTo>
                    <a:pt x="0" y="120904"/>
                    <a:pt x="120904" y="0"/>
                    <a:pt x="269875" y="0"/>
                  </a:cubicBezTo>
                  <a:lnTo>
                    <a:pt x="5949569" y="0"/>
                  </a:lnTo>
                  <a:cubicBezTo>
                    <a:pt x="6098667" y="0"/>
                    <a:pt x="6219444" y="120904"/>
                    <a:pt x="6219444" y="269875"/>
                  </a:cubicBezTo>
                  <a:lnTo>
                    <a:pt x="6219444" y="1349502"/>
                  </a:lnTo>
                  <a:cubicBezTo>
                    <a:pt x="6219444" y="1498600"/>
                    <a:pt x="6098540" y="1619377"/>
                    <a:pt x="5949569" y="1619377"/>
                  </a:cubicBezTo>
                  <a:lnTo>
                    <a:pt x="269875" y="1619377"/>
                  </a:lnTo>
                  <a:cubicBezTo>
                    <a:pt x="120904" y="1619504"/>
                    <a:pt x="0" y="1498600"/>
                    <a:pt x="0" y="1349502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6219469" cy="1619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4AF56D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EVIDENCE BEFORE CLAIMS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F5F8F5"/>
                  </a:solidFill>
                  <a:latin typeface="Verdana"/>
                  <a:ea typeface="Verdana"/>
                  <a:cs typeface="Verdana"/>
                  <a:sym typeface="Verdana"/>
                </a:rPr>
                <a:t>Evidence-first, not résumé-first: every demonstrated skill opens a source file, snippet or project artifact. Unsupported claims stay unverified.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642696" y="2192703"/>
            <a:ext cx="4664602" cy="1253170"/>
            <a:chOff x="0" y="0"/>
            <a:chExt cx="6219469" cy="167089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19444" cy="1670802"/>
            </a:xfrm>
            <a:custGeom>
              <a:avLst/>
              <a:gdLst/>
              <a:ahLst/>
              <a:cxnLst/>
              <a:rect r="r" b="b" t="t" l="l"/>
              <a:pathLst>
                <a:path h="1670802" w="6219444">
                  <a:moveTo>
                    <a:pt x="0" y="278445"/>
                  </a:moveTo>
                  <a:cubicBezTo>
                    <a:pt x="0" y="124743"/>
                    <a:pt x="120904" y="0"/>
                    <a:pt x="269875" y="0"/>
                  </a:cubicBezTo>
                  <a:lnTo>
                    <a:pt x="5949569" y="0"/>
                  </a:lnTo>
                  <a:cubicBezTo>
                    <a:pt x="6098667" y="0"/>
                    <a:pt x="6219444" y="124743"/>
                    <a:pt x="6219444" y="278445"/>
                  </a:cubicBezTo>
                  <a:lnTo>
                    <a:pt x="6219444" y="1392357"/>
                  </a:lnTo>
                  <a:cubicBezTo>
                    <a:pt x="6219444" y="1546190"/>
                    <a:pt x="6098540" y="1670802"/>
                    <a:pt x="5949569" y="1670802"/>
                  </a:cubicBezTo>
                  <a:lnTo>
                    <a:pt x="269875" y="1670802"/>
                  </a:lnTo>
                  <a:cubicBezTo>
                    <a:pt x="120904" y="1670932"/>
                    <a:pt x="0" y="1546190"/>
                    <a:pt x="0" y="1392357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6219469" cy="1670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4AF56D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EXPLAINABLE ROLE FIT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F5F8F5"/>
                  </a:solidFill>
                  <a:latin typeface="Verdana"/>
                  <a:ea typeface="Verdana"/>
                  <a:cs typeface="Verdana"/>
                  <a:sym typeface="Verdana"/>
                </a:rPr>
                <a:t>Show demonstrated, partial and missing requirements, not a mysterious score. The LLM only proposes claims; app code verifies the evidence exists and supports them.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542699" y="2192703"/>
            <a:ext cx="4664602" cy="1214599"/>
            <a:chOff x="0" y="0"/>
            <a:chExt cx="6219469" cy="161946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219444" cy="1619377"/>
            </a:xfrm>
            <a:custGeom>
              <a:avLst/>
              <a:gdLst/>
              <a:ahLst/>
              <a:cxnLst/>
              <a:rect r="r" b="b" t="t" l="l"/>
              <a:pathLst>
                <a:path h="1619377" w="6219444">
                  <a:moveTo>
                    <a:pt x="0" y="269875"/>
                  </a:moveTo>
                  <a:cubicBezTo>
                    <a:pt x="0" y="120904"/>
                    <a:pt x="120904" y="0"/>
                    <a:pt x="269875" y="0"/>
                  </a:cubicBezTo>
                  <a:lnTo>
                    <a:pt x="5949569" y="0"/>
                  </a:lnTo>
                  <a:cubicBezTo>
                    <a:pt x="6098667" y="0"/>
                    <a:pt x="6219444" y="120904"/>
                    <a:pt x="6219444" y="269875"/>
                  </a:cubicBezTo>
                  <a:lnTo>
                    <a:pt x="6219444" y="1349502"/>
                  </a:lnTo>
                  <a:cubicBezTo>
                    <a:pt x="6219444" y="1498600"/>
                    <a:pt x="6098540" y="1619377"/>
                    <a:pt x="5949569" y="1619377"/>
                  </a:cubicBezTo>
                  <a:lnTo>
                    <a:pt x="269875" y="1619377"/>
                  </a:lnTo>
                  <a:cubicBezTo>
                    <a:pt x="120904" y="1619504"/>
                    <a:pt x="0" y="1498600"/>
                    <a:pt x="0" y="1349502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6219469" cy="1619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4AF56D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CLOSE THE LOOP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F5F8F5"/>
                  </a:solidFill>
                  <a:latin typeface="Verdana"/>
                  <a:ea typeface="Verdana"/>
                  <a:cs typeface="Verdana"/>
                  <a:sym typeface="Verdana"/>
                </a:rPr>
                <a:t>Turn each gap into a practical task, then reassess new work as evidence.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749998" y="3513401"/>
            <a:ext cx="8000000" cy="2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AF56D"/>
                </a:solidFill>
                <a:latin typeface="Verdana Bold"/>
                <a:ea typeface="Verdana Bold"/>
                <a:cs typeface="Verdana Bold"/>
                <a:sym typeface="Verdana Bold"/>
              </a:rPr>
              <a:t>VERIFICATION FLOWCHART  |  CORE MECHANISM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2892695" y="4442698"/>
            <a:ext cx="1614602" cy="1114606"/>
            <a:chOff x="0" y="0"/>
            <a:chExt cx="2152802" cy="148614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52777" cy="1486154"/>
            </a:xfrm>
            <a:custGeom>
              <a:avLst/>
              <a:gdLst/>
              <a:ahLst/>
              <a:cxnLst/>
              <a:rect r="r" b="b" t="t" l="l"/>
              <a:pathLst>
                <a:path h="1486154" w="2152777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lnTo>
                    <a:pt x="2033905" y="0"/>
                  </a:lnTo>
                  <a:cubicBezTo>
                    <a:pt x="2099564" y="0"/>
                    <a:pt x="2152777" y="53213"/>
                    <a:pt x="2152777" y="118872"/>
                  </a:cubicBezTo>
                  <a:lnTo>
                    <a:pt x="2152777" y="1367282"/>
                  </a:lnTo>
                  <a:cubicBezTo>
                    <a:pt x="2152777" y="1432941"/>
                    <a:pt x="2099564" y="1486154"/>
                    <a:pt x="2033905" y="1486154"/>
                  </a:cubicBezTo>
                  <a:lnTo>
                    <a:pt x="118872" y="1486154"/>
                  </a:lnTo>
                  <a:cubicBezTo>
                    <a:pt x="53213" y="1486154"/>
                    <a:pt x="0" y="1432941"/>
                    <a:pt x="0" y="1367282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2152802" cy="1486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Ingest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BCCABE"/>
                  </a:solidFill>
                  <a:latin typeface="Verdana"/>
                  <a:ea typeface="Verdana"/>
                  <a:cs typeface="Verdana"/>
                  <a:sym typeface="Verdana"/>
                </a:rPr>
                <a:t>Fetch files and parse résumé text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992700" y="4442698"/>
            <a:ext cx="2014604" cy="1114606"/>
            <a:chOff x="0" y="0"/>
            <a:chExt cx="2686139" cy="148614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686177" cy="1486154"/>
            </a:xfrm>
            <a:custGeom>
              <a:avLst/>
              <a:gdLst/>
              <a:ahLst/>
              <a:cxnLst/>
              <a:rect r="r" b="b" t="t" l="l"/>
              <a:pathLst>
                <a:path h="1486154" w="2686177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lnTo>
                    <a:pt x="2567305" y="0"/>
                  </a:lnTo>
                  <a:cubicBezTo>
                    <a:pt x="2632964" y="0"/>
                    <a:pt x="2686177" y="53213"/>
                    <a:pt x="2686177" y="118872"/>
                  </a:cubicBezTo>
                  <a:lnTo>
                    <a:pt x="2686177" y="1367282"/>
                  </a:lnTo>
                  <a:cubicBezTo>
                    <a:pt x="2686177" y="1432941"/>
                    <a:pt x="2632964" y="1486154"/>
                    <a:pt x="2567305" y="1486154"/>
                  </a:cubicBezTo>
                  <a:lnTo>
                    <a:pt x="118872" y="1486154"/>
                  </a:lnTo>
                  <a:cubicBezTo>
                    <a:pt x="53213" y="1486154"/>
                    <a:pt x="0" y="1432941"/>
                    <a:pt x="0" y="1367282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2686139" cy="1486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Extract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BCCABE"/>
                  </a:solidFill>
                  <a:latin typeface="Verdana"/>
                  <a:ea typeface="Verdana"/>
                  <a:cs typeface="Verdana"/>
                  <a:sym typeface="Verdana"/>
                </a:rPr>
                <a:t>LLM proposes skill claims with cited evidence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485717" y="4085711"/>
            <a:ext cx="2628576" cy="1828571"/>
            <a:chOff x="0" y="0"/>
            <a:chExt cx="3504768" cy="243809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504819" cy="2438146"/>
            </a:xfrm>
            <a:custGeom>
              <a:avLst/>
              <a:gdLst/>
              <a:ahLst/>
              <a:cxnLst/>
              <a:rect r="r" b="b" t="t" l="l"/>
              <a:pathLst>
                <a:path h="2438146" w="3504819">
                  <a:moveTo>
                    <a:pt x="0" y="1219073"/>
                  </a:moveTo>
                  <a:lnTo>
                    <a:pt x="1752346" y="0"/>
                  </a:lnTo>
                  <a:lnTo>
                    <a:pt x="3504819" y="1219073"/>
                  </a:lnTo>
                  <a:lnTo>
                    <a:pt x="1752346" y="2438146"/>
                  </a:lnTo>
                  <a:close/>
                </a:path>
              </a:pathLst>
            </a:custGeom>
            <a:solidFill>
              <a:srgbClr val="0B3F1C"/>
            </a:solidFill>
            <a:ln w="28575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3504768" cy="2438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Evidence valid?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245647" y="3766442"/>
            <a:ext cx="5050698" cy="299999"/>
            <a:chOff x="0" y="0"/>
            <a:chExt cx="6734264" cy="39999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734266" cy="400000"/>
            </a:xfrm>
            <a:custGeom>
              <a:avLst/>
              <a:gdLst/>
              <a:ahLst/>
              <a:cxnLst/>
              <a:rect r="r" b="b" t="t" l="l"/>
              <a:pathLst>
                <a:path h="400000" w="6734266">
                  <a:moveTo>
                    <a:pt x="0" y="0"/>
                  </a:moveTo>
                  <a:lnTo>
                    <a:pt x="6734266" y="0"/>
                  </a:lnTo>
                  <a:lnTo>
                    <a:pt x="6734266" y="400000"/>
                  </a:lnTo>
                  <a:lnTo>
                    <a:pt x="0" y="4000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78043" r="0" b="-27804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6734264" cy="39999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BCCABE"/>
                  </a:solidFill>
                  <a:latin typeface="Verdana"/>
                  <a:ea typeface="Verdana"/>
                  <a:cs typeface="Verdana"/>
                  <a:sym typeface="Verdana"/>
                </a:rPr>
                <a:t>Checks: file exists • lines match • excerpt supports skill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592695" y="4442698"/>
            <a:ext cx="1914601" cy="1114606"/>
            <a:chOff x="0" y="0"/>
            <a:chExt cx="2552802" cy="148614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552827" cy="1486154"/>
            </a:xfrm>
            <a:custGeom>
              <a:avLst/>
              <a:gdLst/>
              <a:ahLst/>
              <a:cxnLst/>
              <a:rect r="r" b="b" t="t" l="l"/>
              <a:pathLst>
                <a:path h="1486154" w="2552827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lnTo>
                    <a:pt x="2433955" y="0"/>
                  </a:lnTo>
                  <a:cubicBezTo>
                    <a:pt x="2499614" y="0"/>
                    <a:pt x="2552827" y="53213"/>
                    <a:pt x="2552827" y="118872"/>
                  </a:cubicBezTo>
                  <a:lnTo>
                    <a:pt x="2552827" y="1367282"/>
                  </a:lnTo>
                  <a:cubicBezTo>
                    <a:pt x="2552827" y="1432941"/>
                    <a:pt x="2499614" y="1486154"/>
                    <a:pt x="2433955" y="1486154"/>
                  </a:cubicBezTo>
                  <a:lnTo>
                    <a:pt x="118872" y="1486154"/>
                  </a:lnTo>
                  <a:cubicBezTo>
                    <a:pt x="53213" y="1486154"/>
                    <a:pt x="0" y="1432941"/>
                    <a:pt x="0" y="1367282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2552802" cy="1486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Assign status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BCCABE"/>
                  </a:solidFill>
                  <a:latin typeface="Verdana"/>
                  <a:ea typeface="Verdana"/>
                  <a:cs typeface="Verdana"/>
                  <a:sym typeface="Verdana"/>
                </a:rPr>
                <a:t>Demonstrated or partial, with rationale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992700" y="4442698"/>
            <a:ext cx="2014604" cy="1114606"/>
            <a:chOff x="0" y="0"/>
            <a:chExt cx="2686139" cy="148614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686177" cy="1486154"/>
            </a:xfrm>
            <a:custGeom>
              <a:avLst/>
              <a:gdLst/>
              <a:ahLst/>
              <a:cxnLst/>
              <a:rect r="r" b="b" t="t" l="l"/>
              <a:pathLst>
                <a:path h="1486154" w="2686177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lnTo>
                    <a:pt x="2567305" y="0"/>
                  </a:lnTo>
                  <a:cubicBezTo>
                    <a:pt x="2632964" y="0"/>
                    <a:pt x="2686177" y="53213"/>
                    <a:pt x="2686177" y="118872"/>
                  </a:cubicBezTo>
                  <a:lnTo>
                    <a:pt x="2686177" y="1367282"/>
                  </a:lnTo>
                  <a:cubicBezTo>
                    <a:pt x="2686177" y="1432941"/>
                    <a:pt x="2632964" y="1486154"/>
                    <a:pt x="2567305" y="1486154"/>
                  </a:cubicBezTo>
                  <a:lnTo>
                    <a:pt x="118872" y="1486154"/>
                  </a:lnTo>
                  <a:cubicBezTo>
                    <a:pt x="53213" y="1486154"/>
                    <a:pt x="0" y="1432941"/>
                    <a:pt x="0" y="1367282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2686139" cy="1486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Passport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BCCABE"/>
                  </a:solidFill>
                  <a:latin typeface="Verdana"/>
                  <a:ea typeface="Verdana"/>
                  <a:cs typeface="Verdana"/>
                  <a:sym typeface="Verdana"/>
                </a:rPr>
                <a:t>Role match, gaps and learning plan</a:t>
              </a:r>
            </a:p>
          </p:txBody>
        </p:sp>
      </p:grpSp>
      <p:sp>
        <p:nvSpPr>
          <p:cNvPr name="AutoShape 47" id="47"/>
          <p:cNvSpPr/>
          <p:nvPr/>
        </p:nvSpPr>
        <p:spPr>
          <a:xfrm>
            <a:off x="2256019" y="4983173"/>
            <a:ext cx="585857" cy="0"/>
          </a:xfrm>
          <a:prstGeom prst="line">
            <a:avLst/>
          </a:prstGeom>
          <a:ln cap="rnd" w="19050">
            <a:solidFill>
              <a:srgbClr val="4AF56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8" id="48"/>
          <p:cNvSpPr/>
          <p:nvPr/>
        </p:nvSpPr>
        <p:spPr>
          <a:xfrm>
            <a:off x="4490479" y="4990471"/>
            <a:ext cx="474578" cy="0"/>
          </a:xfrm>
          <a:prstGeom prst="line">
            <a:avLst/>
          </a:prstGeom>
          <a:ln cap="rnd" w="19050">
            <a:solidFill>
              <a:srgbClr val="4AF56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9" id="49"/>
          <p:cNvSpPr/>
          <p:nvPr/>
        </p:nvSpPr>
        <p:spPr>
          <a:xfrm rot="126119">
            <a:off x="6990302" y="4990471"/>
            <a:ext cx="519398" cy="0"/>
          </a:xfrm>
          <a:prstGeom prst="line">
            <a:avLst/>
          </a:prstGeom>
          <a:ln cap="rnd" w="19050">
            <a:solidFill>
              <a:srgbClr val="4AF56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0" id="50"/>
          <p:cNvSpPr/>
          <p:nvPr/>
        </p:nvSpPr>
        <p:spPr>
          <a:xfrm rot="126119">
            <a:off x="10090299" y="4990471"/>
            <a:ext cx="519398" cy="0"/>
          </a:xfrm>
          <a:prstGeom prst="line">
            <a:avLst/>
          </a:prstGeom>
          <a:ln cap="rnd" w="19050">
            <a:solidFill>
              <a:srgbClr val="4AF56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1" id="51"/>
          <p:cNvSpPr/>
          <p:nvPr/>
        </p:nvSpPr>
        <p:spPr>
          <a:xfrm rot="126119">
            <a:off x="12490304" y="4990471"/>
            <a:ext cx="519398" cy="0"/>
          </a:xfrm>
          <a:prstGeom prst="line">
            <a:avLst/>
          </a:prstGeom>
          <a:ln cap="rnd" w="19050">
            <a:solidFill>
              <a:srgbClr val="4AF56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2" id="52"/>
          <p:cNvGrpSpPr/>
          <p:nvPr/>
        </p:nvGrpSpPr>
        <p:grpSpPr>
          <a:xfrm rot="0">
            <a:off x="10099996" y="4619996"/>
            <a:ext cx="499996" cy="279997"/>
            <a:chOff x="0" y="0"/>
            <a:chExt cx="666661" cy="37332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66667" cy="373333"/>
            </a:xfrm>
            <a:custGeom>
              <a:avLst/>
              <a:gdLst/>
              <a:ahLst/>
              <a:cxnLst/>
              <a:rect r="r" b="b" t="t" l="l"/>
              <a:pathLst>
                <a:path h="373333" w="666667">
                  <a:moveTo>
                    <a:pt x="0" y="0"/>
                  </a:moveTo>
                  <a:lnTo>
                    <a:pt x="666667" y="0"/>
                  </a:lnTo>
                  <a:lnTo>
                    <a:pt x="666667" y="373333"/>
                  </a:lnTo>
                  <a:lnTo>
                    <a:pt x="0" y="373333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1849" t="0" r="-21848" b="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666661" cy="37332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4AF56D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Yes</a:t>
              </a:r>
            </a:p>
          </p:txBody>
        </p:sp>
      </p:grpSp>
      <p:sp>
        <p:nvSpPr>
          <p:cNvPr name="AutoShape 55" id="55"/>
          <p:cNvSpPr/>
          <p:nvPr/>
        </p:nvSpPr>
        <p:spPr>
          <a:xfrm rot="5260440">
            <a:off x="8565280" y="6115479"/>
            <a:ext cx="469440" cy="0"/>
          </a:xfrm>
          <a:prstGeom prst="line">
            <a:avLst/>
          </a:prstGeom>
          <a:ln cap="rnd" w="19050">
            <a:solidFill>
              <a:srgbClr val="4AF56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56" id="56"/>
          <p:cNvSpPr txBox="true"/>
          <p:nvPr/>
        </p:nvSpPr>
        <p:spPr>
          <a:xfrm rot="0">
            <a:off x="8920001" y="5999998"/>
            <a:ext cx="499996" cy="27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4AF56D"/>
                </a:solidFill>
                <a:latin typeface="Verdana Bold"/>
                <a:ea typeface="Verdana Bold"/>
                <a:cs typeface="Verdana Bold"/>
                <a:sym typeface="Verdana Bold"/>
              </a:rPr>
              <a:t>No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7492698" y="6342697"/>
            <a:ext cx="2614603" cy="864603"/>
            <a:chOff x="0" y="0"/>
            <a:chExt cx="3486137" cy="115280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486150" cy="1152779"/>
            </a:xfrm>
            <a:custGeom>
              <a:avLst/>
              <a:gdLst/>
              <a:ahLst/>
              <a:cxnLst/>
              <a:rect r="r" b="b" t="t" l="l"/>
              <a:pathLst>
                <a:path h="1152779" w="3486150">
                  <a:moveTo>
                    <a:pt x="0" y="92202"/>
                  </a:moveTo>
                  <a:cubicBezTo>
                    <a:pt x="0" y="41275"/>
                    <a:pt x="41275" y="0"/>
                    <a:pt x="92202" y="0"/>
                  </a:cubicBezTo>
                  <a:lnTo>
                    <a:pt x="3393948" y="0"/>
                  </a:lnTo>
                  <a:cubicBezTo>
                    <a:pt x="3444875" y="0"/>
                    <a:pt x="3486150" y="41275"/>
                    <a:pt x="3486150" y="92202"/>
                  </a:cubicBezTo>
                  <a:lnTo>
                    <a:pt x="3486150" y="1060577"/>
                  </a:lnTo>
                  <a:cubicBezTo>
                    <a:pt x="3486150" y="1111504"/>
                    <a:pt x="3444875" y="1152779"/>
                    <a:pt x="3393948" y="1152779"/>
                  </a:cubicBezTo>
                  <a:lnTo>
                    <a:pt x="92202" y="1152779"/>
                  </a:lnTo>
                  <a:cubicBezTo>
                    <a:pt x="41275" y="1152779"/>
                    <a:pt x="0" y="1111504"/>
                    <a:pt x="0" y="1060577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3486137" cy="11528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Unverified / not found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BCCABE"/>
                  </a:solidFill>
                  <a:latin typeface="Verdana"/>
                  <a:ea typeface="Verdana"/>
                  <a:cs typeface="Verdana"/>
                  <a:sym typeface="Verdana"/>
                </a:rPr>
                <a:t>Never shown as verified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992700" y="6342697"/>
            <a:ext cx="2014604" cy="864603"/>
            <a:chOff x="0" y="0"/>
            <a:chExt cx="2686139" cy="115280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686177" cy="1152779"/>
            </a:xfrm>
            <a:custGeom>
              <a:avLst/>
              <a:gdLst/>
              <a:ahLst/>
              <a:cxnLst/>
              <a:rect r="r" b="b" t="t" l="l"/>
              <a:pathLst>
                <a:path h="1152779" w="2686177">
                  <a:moveTo>
                    <a:pt x="0" y="92202"/>
                  </a:moveTo>
                  <a:cubicBezTo>
                    <a:pt x="0" y="41275"/>
                    <a:pt x="41275" y="0"/>
                    <a:pt x="92202" y="0"/>
                  </a:cubicBezTo>
                  <a:lnTo>
                    <a:pt x="2593975" y="0"/>
                  </a:lnTo>
                  <a:cubicBezTo>
                    <a:pt x="2644902" y="0"/>
                    <a:pt x="2686177" y="41275"/>
                    <a:pt x="2686177" y="92202"/>
                  </a:cubicBezTo>
                  <a:lnTo>
                    <a:pt x="2686177" y="1060577"/>
                  </a:lnTo>
                  <a:cubicBezTo>
                    <a:pt x="2686177" y="1111504"/>
                    <a:pt x="2644902" y="1152779"/>
                    <a:pt x="2593975" y="1152779"/>
                  </a:cubicBezTo>
                  <a:lnTo>
                    <a:pt x="92202" y="1152779"/>
                  </a:lnTo>
                  <a:cubicBezTo>
                    <a:pt x="41275" y="1152779"/>
                    <a:pt x="0" y="1111504"/>
                    <a:pt x="0" y="1060577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2686139" cy="11528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Learning task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BCCABE"/>
                  </a:solidFill>
                  <a:latin typeface="Verdana"/>
                  <a:ea typeface="Verdana"/>
                  <a:cs typeface="Verdana"/>
                  <a:sym typeface="Verdana"/>
                </a:rPr>
                <a:t>Build project, add evidence</a:t>
              </a:r>
            </a:p>
          </p:txBody>
        </p:sp>
      </p:grpSp>
      <p:sp>
        <p:nvSpPr>
          <p:cNvPr name="AutoShape 63" id="63"/>
          <p:cNvSpPr/>
          <p:nvPr/>
        </p:nvSpPr>
        <p:spPr>
          <a:xfrm rot="5320080">
            <a:off x="13590365" y="5940476"/>
            <a:ext cx="819274" cy="0"/>
          </a:xfrm>
          <a:prstGeom prst="line">
            <a:avLst/>
          </a:prstGeom>
          <a:ln cap="rnd" w="19050">
            <a:solidFill>
              <a:srgbClr val="4AF56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4" id="64"/>
          <p:cNvSpPr/>
          <p:nvPr/>
        </p:nvSpPr>
        <p:spPr>
          <a:xfrm rot="22440">
            <a:off x="10090442" y="6765474"/>
            <a:ext cx="2919108" cy="0"/>
          </a:xfrm>
          <a:prstGeom prst="line">
            <a:avLst/>
          </a:prstGeom>
          <a:ln cap="rnd" w="19050">
            <a:solidFill>
              <a:srgbClr val="4AF56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5" id="65"/>
          <p:cNvGrpSpPr/>
          <p:nvPr/>
        </p:nvGrpSpPr>
        <p:grpSpPr>
          <a:xfrm rot="0">
            <a:off x="10199999" y="6449997"/>
            <a:ext cx="2700004" cy="279997"/>
            <a:chOff x="0" y="0"/>
            <a:chExt cx="3600005" cy="37332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600000" cy="373333"/>
            </a:xfrm>
            <a:custGeom>
              <a:avLst/>
              <a:gdLst/>
              <a:ahLst/>
              <a:cxnLst/>
              <a:rect r="r" b="b" t="t" l="l"/>
              <a:pathLst>
                <a:path h="373333" w="3600000">
                  <a:moveTo>
                    <a:pt x="0" y="0"/>
                  </a:moveTo>
                  <a:lnTo>
                    <a:pt x="3600000" y="0"/>
                  </a:lnTo>
                  <a:lnTo>
                    <a:pt x="3600000" y="373333"/>
                  </a:lnTo>
                  <a:lnTo>
                    <a:pt x="0" y="373333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37892" r="0" b="-13789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600005" cy="37332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4AF56D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Gap to close</a:t>
              </a:r>
            </a:p>
          </p:txBody>
        </p:sp>
      </p:grpSp>
      <p:sp>
        <p:nvSpPr>
          <p:cNvPr name="AutoShape 68" id="68"/>
          <p:cNvSpPr/>
          <p:nvPr/>
        </p:nvSpPr>
        <p:spPr>
          <a:xfrm rot="5157000">
            <a:off x="13865142" y="7315476"/>
            <a:ext cx="269719" cy="0"/>
          </a:xfrm>
          <a:prstGeom prst="line">
            <a:avLst/>
          </a:prstGeom>
          <a:ln cap="rnd" w="19050">
            <a:solidFill>
              <a:srgbClr val="4AF5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9" id="69"/>
          <p:cNvSpPr/>
          <p:nvPr/>
        </p:nvSpPr>
        <p:spPr>
          <a:xfrm rot="10793640">
            <a:off x="3690471" y="7440473"/>
            <a:ext cx="10319071" cy="0"/>
          </a:xfrm>
          <a:prstGeom prst="line">
            <a:avLst/>
          </a:prstGeom>
          <a:ln cap="rnd" w="19050">
            <a:solidFill>
              <a:srgbClr val="4AF5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0" id="70"/>
          <p:cNvSpPr/>
          <p:nvPr/>
        </p:nvSpPr>
        <p:spPr>
          <a:xfrm rot="-5365860">
            <a:off x="2740428" y="6490478"/>
            <a:ext cx="1919145" cy="0"/>
          </a:xfrm>
          <a:prstGeom prst="line">
            <a:avLst/>
          </a:prstGeom>
          <a:ln cap="rnd" w="19050">
            <a:solidFill>
              <a:srgbClr val="4AF56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71" id="71"/>
          <p:cNvSpPr txBox="true"/>
          <p:nvPr/>
        </p:nvSpPr>
        <p:spPr>
          <a:xfrm rot="0">
            <a:off x="4399998" y="7500004"/>
            <a:ext cx="900000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699">
                <a:solidFill>
                  <a:srgbClr val="4AF56D"/>
                </a:solidFill>
                <a:latin typeface="Verdana"/>
                <a:ea typeface="Verdana"/>
                <a:cs typeface="Verdana"/>
                <a:sym typeface="Verdana"/>
              </a:rPr>
              <a:t>New work is re-analysed as new evidence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641436" y="7823854"/>
            <a:ext cx="15177866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4AF56D"/>
                </a:solidFill>
                <a:latin typeface="Verdana Bold"/>
                <a:ea typeface="Verdana Bold"/>
                <a:cs typeface="Verdana Bold"/>
                <a:sym typeface="Verdana Bold"/>
              </a:rPr>
              <a:t>MVP feasibility: </a:t>
            </a:r>
            <a:r>
              <a:rPr lang="en-US" sz="1599">
                <a:solidFill>
                  <a:srgbClr val="F5F8F5"/>
                </a:solidFill>
                <a:latin typeface="Verdana"/>
                <a:ea typeface="Verdana"/>
                <a:cs typeface="Verdana"/>
                <a:sym typeface="Verdana"/>
              </a:rPr>
              <a:t>one public GitHub repository • one résumé PDF • one LLM API • transparent matching rubric • sample data as live-demo fallback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641436" y="4425871"/>
            <a:ext cx="1614602" cy="1114604"/>
            <a:chOff x="0" y="0"/>
            <a:chExt cx="2152802" cy="148613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152777" cy="1486151"/>
            </a:xfrm>
            <a:custGeom>
              <a:avLst/>
              <a:gdLst/>
              <a:ahLst/>
              <a:cxnLst/>
              <a:rect r="r" b="b" t="t" l="l"/>
              <a:pathLst>
                <a:path h="1486151" w="2152777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lnTo>
                    <a:pt x="2033905" y="0"/>
                  </a:lnTo>
                  <a:cubicBezTo>
                    <a:pt x="2099564" y="0"/>
                    <a:pt x="2152777" y="53213"/>
                    <a:pt x="2152777" y="118872"/>
                  </a:cubicBezTo>
                  <a:lnTo>
                    <a:pt x="2152777" y="1367280"/>
                  </a:lnTo>
                  <a:cubicBezTo>
                    <a:pt x="2152777" y="1432939"/>
                    <a:pt x="2099564" y="1486151"/>
                    <a:pt x="2033905" y="1486151"/>
                  </a:cubicBezTo>
                  <a:lnTo>
                    <a:pt x="118872" y="1486151"/>
                  </a:lnTo>
                  <a:cubicBezTo>
                    <a:pt x="53213" y="1486151"/>
                    <a:pt x="0" y="1432939"/>
                    <a:pt x="0" y="1367280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2152802" cy="1486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742702" y="4559310"/>
            <a:ext cx="1310692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3"/>
              </a:lnSpc>
              <a:spcBef>
                <a:spcPct val="0"/>
              </a:spcBef>
            </a:pPr>
            <a:r>
              <a:rPr lang="en-US" b="true" sz="1461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Start</a:t>
            </a:r>
          </a:p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Student submits repo + résumé PDF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014" y="0"/>
            <a:ext cx="15925800" cy="8934450"/>
            <a:chOff x="0" y="0"/>
            <a:chExt cx="21234400" cy="11912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34400" cy="11912600"/>
            </a:xfrm>
            <a:custGeom>
              <a:avLst/>
              <a:gdLst/>
              <a:ahLst/>
              <a:cxnLst/>
              <a:rect r="r" b="b" t="t" l="l"/>
              <a:pathLst>
                <a:path h="11912600" w="21234400">
                  <a:moveTo>
                    <a:pt x="0" y="0"/>
                  </a:moveTo>
                  <a:lnTo>
                    <a:pt x="21234400" y="0"/>
                  </a:lnTo>
                  <a:lnTo>
                    <a:pt x="21234400" y="11912600"/>
                  </a:lnTo>
                  <a:lnTo>
                    <a:pt x="0" y="1191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3" r="0" b="-5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9206" y="1114015"/>
            <a:ext cx="15916275" cy="200025"/>
            <a:chOff x="0" y="0"/>
            <a:chExt cx="21221700" cy="266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221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1221700">
                  <a:moveTo>
                    <a:pt x="0" y="0"/>
                  </a:moveTo>
                  <a:lnTo>
                    <a:pt x="21221700" y="0"/>
                  </a:lnTo>
                  <a:lnTo>
                    <a:pt x="21221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9" t="0" r="-2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56813" y="1430474"/>
            <a:ext cx="3609975" cy="561975"/>
            <a:chOff x="0" y="0"/>
            <a:chExt cx="4813300" cy="749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3300" cy="749300"/>
            </a:xfrm>
            <a:custGeom>
              <a:avLst/>
              <a:gdLst/>
              <a:ahLst/>
              <a:cxnLst/>
              <a:rect r="r" b="b" t="t" l="l"/>
              <a:pathLst>
                <a:path h="749300" w="4813300">
                  <a:moveTo>
                    <a:pt x="0" y="0"/>
                  </a:moveTo>
                  <a:lnTo>
                    <a:pt x="4813300" y="0"/>
                  </a:lnTo>
                  <a:lnTo>
                    <a:pt x="4813300" y="749300"/>
                  </a:lnTo>
                  <a:lnTo>
                    <a:pt x="0" y="749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9206" y="8017116"/>
            <a:ext cx="15916275" cy="390525"/>
            <a:chOff x="0" y="0"/>
            <a:chExt cx="21221700" cy="520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221700" cy="520700"/>
            </a:xfrm>
            <a:custGeom>
              <a:avLst/>
              <a:gdLst/>
              <a:ahLst/>
              <a:cxnLst/>
              <a:rect r="r" b="b" t="t" l="l"/>
              <a:pathLst>
                <a:path h="520700" w="21221700">
                  <a:moveTo>
                    <a:pt x="0" y="0"/>
                  </a:moveTo>
                  <a:lnTo>
                    <a:pt x="21221700" y="0"/>
                  </a:lnTo>
                  <a:lnTo>
                    <a:pt x="21221700" y="520700"/>
                  </a:lnTo>
                  <a:lnTo>
                    <a:pt x="0" y="520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9" t="0" r="-29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64891" y="8207550"/>
            <a:ext cx="962025" cy="200025"/>
            <a:chOff x="0" y="0"/>
            <a:chExt cx="1282700" cy="266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2700" cy="266700"/>
            </a:xfrm>
            <a:custGeom>
              <a:avLst/>
              <a:gdLst/>
              <a:ahLst/>
              <a:cxnLst/>
              <a:rect r="r" b="b" t="t" l="l"/>
              <a:pathLst>
                <a:path h="266700" w="1282700">
                  <a:moveTo>
                    <a:pt x="0" y="0"/>
                  </a:moveTo>
                  <a:lnTo>
                    <a:pt x="1282700" y="0"/>
                  </a:lnTo>
                  <a:lnTo>
                    <a:pt x="1282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42867" y="34623"/>
            <a:ext cx="1933575" cy="828675"/>
            <a:chOff x="0" y="0"/>
            <a:chExt cx="2578100" cy="11049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781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578100">
                  <a:moveTo>
                    <a:pt x="0" y="0"/>
                  </a:moveTo>
                  <a:lnTo>
                    <a:pt x="2578100" y="0"/>
                  </a:lnTo>
                  <a:lnTo>
                    <a:pt x="2578100" y="11049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27851"/>
            <a:ext cx="590550" cy="828675"/>
            <a:chOff x="0" y="0"/>
            <a:chExt cx="787400" cy="11049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74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787400">
                  <a:moveTo>
                    <a:pt x="0" y="0"/>
                  </a:moveTo>
                  <a:lnTo>
                    <a:pt x="787400" y="0"/>
                  </a:lnTo>
                  <a:lnTo>
                    <a:pt x="787400" y="11049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66" t="0" r="-467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064891" y="76724"/>
            <a:ext cx="1819275" cy="1038225"/>
            <a:chOff x="0" y="0"/>
            <a:chExt cx="2425700" cy="13843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25700" cy="1384300"/>
            </a:xfrm>
            <a:custGeom>
              <a:avLst/>
              <a:gdLst/>
              <a:ahLst/>
              <a:cxnLst/>
              <a:rect r="r" b="b" t="t" l="l"/>
              <a:pathLst>
                <a:path h="1384300" w="2425700">
                  <a:moveTo>
                    <a:pt x="0" y="0"/>
                  </a:moveTo>
                  <a:lnTo>
                    <a:pt x="2425700" y="0"/>
                  </a:lnTo>
                  <a:lnTo>
                    <a:pt x="2425700" y="1384300"/>
                  </a:lnTo>
                  <a:lnTo>
                    <a:pt x="0" y="138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65" r="0" b="-66"/>
              </a:stretch>
            </a:blipFill>
          </p:spPr>
        </p:sp>
      </p:grpSp>
      <p:sp>
        <p:nvSpPr>
          <p:cNvPr name="TextBox 18" id="18" descr="$PPTXTitle"/>
          <p:cNvSpPr txBox="true"/>
          <p:nvPr/>
        </p:nvSpPr>
        <p:spPr>
          <a:xfrm rot="0">
            <a:off x="874605" y="976560"/>
            <a:ext cx="12700159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spc="354">
                <a:solidFill>
                  <a:srgbClr val="4AF56D"/>
                </a:solidFill>
                <a:latin typeface="Bank Gothic Light"/>
                <a:ea typeface="Bank Gothic Light"/>
                <a:cs typeface="Bank Gothic Light"/>
                <a:sym typeface="Bank Gothic Light"/>
              </a:rPr>
              <a:t>system Architecture &amp; Tech stack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43645" y="1993649"/>
            <a:ext cx="4012702" cy="5332705"/>
            <a:chOff x="0" y="0"/>
            <a:chExt cx="5350269" cy="711027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50256" cy="7110349"/>
            </a:xfrm>
            <a:custGeom>
              <a:avLst/>
              <a:gdLst/>
              <a:ahLst/>
              <a:cxnLst/>
              <a:rect r="r" b="b" t="t" l="l"/>
              <a:pathLst>
                <a:path h="7110349" w="5350256">
                  <a:moveTo>
                    <a:pt x="0" y="160528"/>
                  </a:moveTo>
                  <a:cubicBezTo>
                    <a:pt x="0" y="71882"/>
                    <a:pt x="71882" y="0"/>
                    <a:pt x="160528" y="0"/>
                  </a:cubicBezTo>
                  <a:lnTo>
                    <a:pt x="5189728" y="0"/>
                  </a:lnTo>
                  <a:cubicBezTo>
                    <a:pt x="5278374" y="0"/>
                    <a:pt x="5350256" y="71882"/>
                    <a:pt x="5350256" y="160528"/>
                  </a:cubicBezTo>
                  <a:lnTo>
                    <a:pt x="5350256" y="6949821"/>
                  </a:lnTo>
                  <a:cubicBezTo>
                    <a:pt x="5350256" y="7038467"/>
                    <a:pt x="5278374" y="7110349"/>
                    <a:pt x="5189728" y="7110349"/>
                  </a:cubicBezTo>
                  <a:lnTo>
                    <a:pt x="160528" y="7110349"/>
                  </a:lnTo>
                  <a:cubicBezTo>
                    <a:pt x="71882" y="7110222"/>
                    <a:pt x="0" y="7038467"/>
                    <a:pt x="0" y="6949821"/>
                  </a:cubicBez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20510" t="0" r="-120510" b="1"/>
              </a:stretch>
            </a:blipFill>
            <a:ln w="12700" cap="sq">
              <a:solidFill>
                <a:srgbClr val="54C225"/>
              </a:solidFill>
              <a:prstDash val="dash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30002" y="2150002"/>
            <a:ext cx="3639998" cy="55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4AF56D"/>
                </a:solidFill>
                <a:latin typeface="Verdana Bold"/>
                <a:ea typeface="Verdana Bold"/>
                <a:cs typeface="Verdana Bold"/>
                <a:sym typeface="Verdana Bold"/>
              </a:rPr>
              <a:t>CLIENT LAYER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BCCABE"/>
                </a:solidFill>
                <a:latin typeface="Verdana"/>
                <a:ea typeface="Verdana"/>
                <a:cs typeface="Verdana"/>
                <a:sym typeface="Verdana"/>
              </a:rPr>
              <a:t>Next.js • React • TypeScript • Tailwind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443652" y="1993649"/>
            <a:ext cx="5212699" cy="5332705"/>
            <a:chOff x="0" y="0"/>
            <a:chExt cx="6950266" cy="711027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50328" cy="7110349"/>
            </a:xfrm>
            <a:custGeom>
              <a:avLst/>
              <a:gdLst/>
              <a:ahLst/>
              <a:cxnLst/>
              <a:rect r="r" b="b" t="t" l="l"/>
              <a:pathLst>
                <a:path h="7110349" w="6950328">
                  <a:moveTo>
                    <a:pt x="0" y="208534"/>
                  </a:moveTo>
                  <a:cubicBezTo>
                    <a:pt x="0" y="93345"/>
                    <a:pt x="93345" y="0"/>
                    <a:pt x="208534" y="0"/>
                  </a:cubicBezTo>
                  <a:lnTo>
                    <a:pt x="6741795" y="0"/>
                  </a:lnTo>
                  <a:cubicBezTo>
                    <a:pt x="6856984" y="0"/>
                    <a:pt x="6950328" y="93345"/>
                    <a:pt x="6950328" y="208534"/>
                  </a:cubicBezTo>
                  <a:lnTo>
                    <a:pt x="6950328" y="6901815"/>
                  </a:lnTo>
                  <a:cubicBezTo>
                    <a:pt x="6950328" y="7017004"/>
                    <a:pt x="6856984" y="7110349"/>
                    <a:pt x="6741795" y="7110349"/>
                  </a:cubicBezTo>
                  <a:lnTo>
                    <a:pt x="208534" y="7110349"/>
                  </a:lnTo>
                  <a:cubicBezTo>
                    <a:pt x="93345" y="7110222"/>
                    <a:pt x="0" y="7016877"/>
                    <a:pt x="0" y="6901815"/>
                  </a:cubicBez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81256" t="0" r="-81255" b="1"/>
              </a:stretch>
            </a:blipFill>
            <a:ln w="12700" cap="sq">
              <a:solidFill>
                <a:srgbClr val="54C225"/>
              </a:solidFill>
              <a:prstDash val="dash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5629999" y="2150002"/>
            <a:ext cx="4839995" cy="55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4AF56D"/>
                </a:solidFill>
                <a:latin typeface="Verdana Bold"/>
                <a:ea typeface="Verdana Bold"/>
                <a:cs typeface="Verdana Bold"/>
                <a:sym typeface="Verdana Bold"/>
              </a:rPr>
              <a:t>APPLICATION LAYER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BCCABE"/>
                </a:solidFill>
                <a:latin typeface="Verdana"/>
                <a:ea typeface="Verdana"/>
                <a:cs typeface="Verdana"/>
                <a:sym typeface="Verdana"/>
              </a:rPr>
              <a:t>Next.js Route Handlers • Zod validation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343646" y="1993649"/>
            <a:ext cx="3862702" cy="5332705"/>
            <a:chOff x="0" y="0"/>
            <a:chExt cx="5150269" cy="711027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50358" cy="7110349"/>
            </a:xfrm>
            <a:custGeom>
              <a:avLst/>
              <a:gdLst/>
              <a:ahLst/>
              <a:cxnLst/>
              <a:rect r="r" b="b" t="t" l="l"/>
              <a:pathLst>
                <a:path h="7110349" w="5150358">
                  <a:moveTo>
                    <a:pt x="0" y="154559"/>
                  </a:moveTo>
                  <a:cubicBezTo>
                    <a:pt x="0" y="69215"/>
                    <a:pt x="69215" y="0"/>
                    <a:pt x="154559" y="0"/>
                  </a:cubicBezTo>
                  <a:lnTo>
                    <a:pt x="4995799" y="0"/>
                  </a:lnTo>
                  <a:cubicBezTo>
                    <a:pt x="5081143" y="0"/>
                    <a:pt x="5150358" y="69215"/>
                    <a:pt x="5150358" y="154559"/>
                  </a:cubicBezTo>
                  <a:lnTo>
                    <a:pt x="5150358" y="6955790"/>
                  </a:lnTo>
                  <a:cubicBezTo>
                    <a:pt x="5150358" y="7041134"/>
                    <a:pt x="5081143" y="7110349"/>
                    <a:pt x="4995799" y="7110349"/>
                  </a:cubicBezTo>
                  <a:lnTo>
                    <a:pt x="154559" y="7110349"/>
                  </a:lnTo>
                  <a:cubicBezTo>
                    <a:pt x="69215" y="7110222"/>
                    <a:pt x="0" y="7041134"/>
                    <a:pt x="0" y="6955790"/>
                  </a:cubicBez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27129" t="0" r="-127127" b="1"/>
              </a:stretch>
            </a:blipFill>
            <a:ln w="12700" cap="sq">
              <a:solidFill>
                <a:srgbClr val="54C225"/>
              </a:solidFill>
              <a:prstDash val="dash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1530003" y="2150002"/>
            <a:ext cx="3489998" cy="55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4AF56D"/>
                </a:solidFill>
                <a:latin typeface="Verdana Bold"/>
                <a:ea typeface="Verdana Bold"/>
                <a:cs typeface="Verdana Bold"/>
                <a:sym typeface="Verdana Bold"/>
              </a:rPr>
              <a:t>DATA &amp; EXTERNAL SERVICES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BCCABE"/>
                </a:solidFill>
                <a:latin typeface="Verdana"/>
                <a:ea typeface="Verdana"/>
                <a:cs typeface="Verdana"/>
                <a:sym typeface="Verdana"/>
              </a:rPr>
              <a:t>Supabase • OpenAI • GitHub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92702" y="2742695"/>
            <a:ext cx="3714607" cy="814607"/>
            <a:chOff x="0" y="0"/>
            <a:chExt cx="4952810" cy="108614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52746" cy="1086104"/>
            </a:xfrm>
            <a:custGeom>
              <a:avLst/>
              <a:gdLst/>
              <a:ahLst/>
              <a:cxnLst/>
              <a:rect r="r" b="b" t="t" l="l"/>
              <a:pathLst>
                <a:path h="1086104" w="4952746">
                  <a:moveTo>
                    <a:pt x="0" y="86868"/>
                  </a:moveTo>
                  <a:cubicBezTo>
                    <a:pt x="0" y="38862"/>
                    <a:pt x="38862" y="0"/>
                    <a:pt x="86868" y="0"/>
                  </a:cubicBezTo>
                  <a:lnTo>
                    <a:pt x="4865878" y="0"/>
                  </a:lnTo>
                  <a:cubicBezTo>
                    <a:pt x="4913884" y="0"/>
                    <a:pt x="4952746" y="38862"/>
                    <a:pt x="4952746" y="86868"/>
                  </a:cubicBezTo>
                  <a:lnTo>
                    <a:pt x="4952746" y="999236"/>
                  </a:lnTo>
                  <a:cubicBezTo>
                    <a:pt x="4952746" y="1047242"/>
                    <a:pt x="4913884" y="1086104"/>
                    <a:pt x="4865878" y="1086104"/>
                  </a:cubicBezTo>
                  <a:lnTo>
                    <a:pt x="86868" y="1086104"/>
                  </a:lnTo>
                  <a:cubicBezTo>
                    <a:pt x="38862" y="1086104"/>
                    <a:pt x="0" y="1047242"/>
                    <a:pt x="0" y="999236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4952810" cy="1086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Landing &amp; Submission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BCCABE"/>
                  </a:solidFill>
                  <a:latin typeface="Verdana"/>
                  <a:ea typeface="Verdana"/>
                  <a:cs typeface="Verdana"/>
                  <a:sym typeface="Verdana"/>
                </a:rPr>
                <a:t>Repo URL, résumé PDF, job description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92702" y="3652695"/>
            <a:ext cx="3714607" cy="814607"/>
            <a:chOff x="0" y="0"/>
            <a:chExt cx="4952810" cy="108614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52746" cy="1086104"/>
            </a:xfrm>
            <a:custGeom>
              <a:avLst/>
              <a:gdLst/>
              <a:ahLst/>
              <a:cxnLst/>
              <a:rect r="r" b="b" t="t" l="l"/>
              <a:pathLst>
                <a:path h="1086104" w="4952746">
                  <a:moveTo>
                    <a:pt x="0" y="86868"/>
                  </a:moveTo>
                  <a:cubicBezTo>
                    <a:pt x="0" y="38862"/>
                    <a:pt x="38862" y="0"/>
                    <a:pt x="86868" y="0"/>
                  </a:cubicBezTo>
                  <a:lnTo>
                    <a:pt x="4865878" y="0"/>
                  </a:lnTo>
                  <a:cubicBezTo>
                    <a:pt x="4913884" y="0"/>
                    <a:pt x="4952746" y="38862"/>
                    <a:pt x="4952746" y="86868"/>
                  </a:cubicBezTo>
                  <a:lnTo>
                    <a:pt x="4952746" y="999236"/>
                  </a:lnTo>
                  <a:cubicBezTo>
                    <a:pt x="4952746" y="1047242"/>
                    <a:pt x="4913884" y="1086104"/>
                    <a:pt x="4865878" y="1086104"/>
                  </a:cubicBezTo>
                  <a:lnTo>
                    <a:pt x="86868" y="1086104"/>
                  </a:lnTo>
                  <a:cubicBezTo>
                    <a:pt x="38862" y="1086104"/>
                    <a:pt x="0" y="1047242"/>
                    <a:pt x="0" y="999236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4952810" cy="1086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Student Dashboard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BCCABE"/>
                  </a:solidFill>
                  <a:latin typeface="Verdana"/>
                  <a:ea typeface="Verdana"/>
                  <a:cs typeface="Verdana"/>
                  <a:sym typeface="Verdana"/>
                </a:rPr>
                <a:t>Skill statuses and role coverage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92702" y="4562694"/>
            <a:ext cx="3714607" cy="814607"/>
            <a:chOff x="0" y="0"/>
            <a:chExt cx="4952810" cy="108614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952746" cy="1086104"/>
            </a:xfrm>
            <a:custGeom>
              <a:avLst/>
              <a:gdLst/>
              <a:ahLst/>
              <a:cxnLst/>
              <a:rect r="r" b="b" t="t" l="l"/>
              <a:pathLst>
                <a:path h="1086104" w="4952746">
                  <a:moveTo>
                    <a:pt x="0" y="86868"/>
                  </a:moveTo>
                  <a:cubicBezTo>
                    <a:pt x="0" y="38862"/>
                    <a:pt x="38862" y="0"/>
                    <a:pt x="86868" y="0"/>
                  </a:cubicBezTo>
                  <a:lnTo>
                    <a:pt x="4865878" y="0"/>
                  </a:lnTo>
                  <a:cubicBezTo>
                    <a:pt x="4913884" y="0"/>
                    <a:pt x="4952746" y="38862"/>
                    <a:pt x="4952746" y="86868"/>
                  </a:cubicBezTo>
                  <a:lnTo>
                    <a:pt x="4952746" y="999236"/>
                  </a:lnTo>
                  <a:cubicBezTo>
                    <a:pt x="4952746" y="1047242"/>
                    <a:pt x="4913884" y="1086104"/>
                    <a:pt x="4865878" y="1086104"/>
                  </a:cubicBezTo>
                  <a:lnTo>
                    <a:pt x="86868" y="1086104"/>
                  </a:lnTo>
                  <a:cubicBezTo>
                    <a:pt x="38862" y="1086104"/>
                    <a:pt x="0" y="1047242"/>
                    <a:pt x="0" y="999236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4952810" cy="1086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Passport &amp; Evidence Viewer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BCCABE"/>
                  </a:solidFill>
                  <a:latin typeface="Verdana"/>
                  <a:ea typeface="Verdana"/>
                  <a:cs typeface="Verdana"/>
                  <a:sym typeface="Verdana"/>
                </a:rPr>
                <a:t>Source file, line range and excerpt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92702" y="5472694"/>
            <a:ext cx="3714607" cy="814607"/>
            <a:chOff x="0" y="0"/>
            <a:chExt cx="4952810" cy="108614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952746" cy="1086104"/>
            </a:xfrm>
            <a:custGeom>
              <a:avLst/>
              <a:gdLst/>
              <a:ahLst/>
              <a:cxnLst/>
              <a:rect r="r" b="b" t="t" l="l"/>
              <a:pathLst>
                <a:path h="1086104" w="4952746">
                  <a:moveTo>
                    <a:pt x="0" y="86868"/>
                  </a:moveTo>
                  <a:cubicBezTo>
                    <a:pt x="0" y="38862"/>
                    <a:pt x="38862" y="0"/>
                    <a:pt x="86868" y="0"/>
                  </a:cubicBezTo>
                  <a:lnTo>
                    <a:pt x="4865878" y="0"/>
                  </a:lnTo>
                  <a:cubicBezTo>
                    <a:pt x="4913884" y="0"/>
                    <a:pt x="4952746" y="38862"/>
                    <a:pt x="4952746" y="86868"/>
                  </a:cubicBezTo>
                  <a:lnTo>
                    <a:pt x="4952746" y="999236"/>
                  </a:lnTo>
                  <a:cubicBezTo>
                    <a:pt x="4952746" y="1047242"/>
                    <a:pt x="4913884" y="1086104"/>
                    <a:pt x="4865878" y="1086104"/>
                  </a:cubicBezTo>
                  <a:lnTo>
                    <a:pt x="86868" y="1086104"/>
                  </a:lnTo>
                  <a:cubicBezTo>
                    <a:pt x="38862" y="1086104"/>
                    <a:pt x="0" y="1047242"/>
                    <a:pt x="0" y="999236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4952810" cy="1086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Role Matcher &amp; Learning Plan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BCCABE"/>
                  </a:solidFill>
                  <a:latin typeface="Verdana"/>
                  <a:ea typeface="Verdana"/>
                  <a:cs typeface="Verdana"/>
                  <a:sym typeface="Verdana"/>
                </a:rPr>
                <a:t>Requirement-level gaps and tasks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92702" y="6382703"/>
            <a:ext cx="3714607" cy="814607"/>
            <a:chOff x="0" y="0"/>
            <a:chExt cx="4952810" cy="108614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952746" cy="1086104"/>
            </a:xfrm>
            <a:custGeom>
              <a:avLst/>
              <a:gdLst/>
              <a:ahLst/>
              <a:cxnLst/>
              <a:rect r="r" b="b" t="t" l="l"/>
              <a:pathLst>
                <a:path h="1086104" w="4952746">
                  <a:moveTo>
                    <a:pt x="0" y="86868"/>
                  </a:moveTo>
                  <a:cubicBezTo>
                    <a:pt x="0" y="38862"/>
                    <a:pt x="38862" y="0"/>
                    <a:pt x="86868" y="0"/>
                  </a:cubicBezTo>
                  <a:lnTo>
                    <a:pt x="4865878" y="0"/>
                  </a:lnTo>
                  <a:cubicBezTo>
                    <a:pt x="4913884" y="0"/>
                    <a:pt x="4952746" y="38862"/>
                    <a:pt x="4952746" y="86868"/>
                  </a:cubicBezTo>
                  <a:lnTo>
                    <a:pt x="4952746" y="999236"/>
                  </a:lnTo>
                  <a:cubicBezTo>
                    <a:pt x="4952746" y="1047242"/>
                    <a:pt x="4913884" y="1086104"/>
                    <a:pt x="4865878" y="1086104"/>
                  </a:cubicBezTo>
                  <a:lnTo>
                    <a:pt x="86868" y="1086104"/>
                  </a:lnTo>
                  <a:cubicBezTo>
                    <a:pt x="38862" y="1086104"/>
                    <a:pt x="0" y="1047242"/>
                    <a:pt x="0" y="999236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4952810" cy="1086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Recruiter View (read-only)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BCCABE"/>
                  </a:solidFill>
                  <a:latin typeface="Verdana"/>
                  <a:ea typeface="Verdana"/>
                  <a:cs typeface="Verdana"/>
                  <a:sym typeface="Verdana"/>
                </a:rPr>
                <a:t>Shareable link with revocable access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592699" y="2742695"/>
            <a:ext cx="4914605" cy="814607"/>
            <a:chOff x="0" y="0"/>
            <a:chExt cx="6552806" cy="108614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552819" cy="1086104"/>
            </a:xfrm>
            <a:custGeom>
              <a:avLst/>
              <a:gdLst/>
              <a:ahLst/>
              <a:cxnLst/>
              <a:rect r="r" b="b" t="t" l="l"/>
              <a:pathLst>
                <a:path h="1086104" w="6552819">
                  <a:moveTo>
                    <a:pt x="0" y="86868"/>
                  </a:moveTo>
                  <a:cubicBezTo>
                    <a:pt x="0" y="38862"/>
                    <a:pt x="38862" y="0"/>
                    <a:pt x="86868" y="0"/>
                  </a:cubicBezTo>
                  <a:lnTo>
                    <a:pt x="6465951" y="0"/>
                  </a:lnTo>
                  <a:cubicBezTo>
                    <a:pt x="6513957" y="0"/>
                    <a:pt x="6552819" y="38862"/>
                    <a:pt x="6552819" y="86868"/>
                  </a:cubicBezTo>
                  <a:lnTo>
                    <a:pt x="6552819" y="999236"/>
                  </a:lnTo>
                  <a:cubicBezTo>
                    <a:pt x="6552819" y="1047242"/>
                    <a:pt x="6513957" y="1086104"/>
                    <a:pt x="6465951" y="1086104"/>
                  </a:cubicBezTo>
                  <a:lnTo>
                    <a:pt x="86868" y="1086104"/>
                  </a:lnTo>
                  <a:cubicBezTo>
                    <a:pt x="38862" y="1086104"/>
                    <a:pt x="0" y="1047242"/>
                    <a:pt x="0" y="999236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6552806" cy="1086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Ingestion Service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BCCABE"/>
                  </a:solidFill>
                  <a:latin typeface="Verdana"/>
                  <a:ea typeface="Verdana"/>
                  <a:cs typeface="Verdana"/>
                  <a:sym typeface="Verdana"/>
                </a:rPr>
                <a:t>File fetch + authorship signals • résumé PDF extraction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592699" y="3652695"/>
            <a:ext cx="4914605" cy="814607"/>
            <a:chOff x="0" y="0"/>
            <a:chExt cx="6552806" cy="108614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552819" cy="1086104"/>
            </a:xfrm>
            <a:custGeom>
              <a:avLst/>
              <a:gdLst/>
              <a:ahLst/>
              <a:cxnLst/>
              <a:rect r="r" b="b" t="t" l="l"/>
              <a:pathLst>
                <a:path h="1086104" w="6552819">
                  <a:moveTo>
                    <a:pt x="0" y="86868"/>
                  </a:moveTo>
                  <a:cubicBezTo>
                    <a:pt x="0" y="38862"/>
                    <a:pt x="38862" y="0"/>
                    <a:pt x="86868" y="0"/>
                  </a:cubicBezTo>
                  <a:lnTo>
                    <a:pt x="6465951" y="0"/>
                  </a:lnTo>
                  <a:cubicBezTo>
                    <a:pt x="6513957" y="0"/>
                    <a:pt x="6552819" y="38862"/>
                    <a:pt x="6552819" y="86868"/>
                  </a:cubicBezTo>
                  <a:lnTo>
                    <a:pt x="6552819" y="999236"/>
                  </a:lnTo>
                  <a:cubicBezTo>
                    <a:pt x="6552819" y="1047242"/>
                    <a:pt x="6513957" y="1086104"/>
                    <a:pt x="6465951" y="1086104"/>
                  </a:cubicBezTo>
                  <a:lnTo>
                    <a:pt x="86868" y="1086104"/>
                  </a:lnTo>
                  <a:cubicBezTo>
                    <a:pt x="38862" y="1086104"/>
                    <a:pt x="0" y="1047242"/>
                    <a:pt x="0" y="999236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6552806" cy="1086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Skill Extraction (LLM)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BCCABE"/>
                  </a:solidFill>
                  <a:latin typeface="Verdana"/>
                  <a:ea typeface="Verdana"/>
                  <a:cs typeface="Verdana"/>
                  <a:sym typeface="Verdana"/>
                </a:rPr>
                <a:t>Structured JSON • Zod schema • prompt-injection guard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585717" y="4555712"/>
            <a:ext cx="4928578" cy="828580"/>
            <a:chOff x="0" y="0"/>
            <a:chExt cx="6571437" cy="110477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571488" cy="1104773"/>
            </a:xfrm>
            <a:custGeom>
              <a:avLst/>
              <a:gdLst/>
              <a:ahLst/>
              <a:cxnLst/>
              <a:rect r="r" b="b" t="t" l="l"/>
              <a:pathLst>
                <a:path h="1104773" w="6571488">
                  <a:moveTo>
                    <a:pt x="0" y="88392"/>
                  </a:moveTo>
                  <a:cubicBezTo>
                    <a:pt x="0" y="39624"/>
                    <a:pt x="39624" y="0"/>
                    <a:pt x="88392" y="0"/>
                  </a:cubicBezTo>
                  <a:lnTo>
                    <a:pt x="6483096" y="0"/>
                  </a:lnTo>
                  <a:cubicBezTo>
                    <a:pt x="6531864" y="0"/>
                    <a:pt x="6571488" y="39624"/>
                    <a:pt x="6571488" y="88392"/>
                  </a:cubicBezTo>
                  <a:lnTo>
                    <a:pt x="6571488" y="1016381"/>
                  </a:lnTo>
                  <a:cubicBezTo>
                    <a:pt x="6571488" y="1065149"/>
                    <a:pt x="6531864" y="1104773"/>
                    <a:pt x="6483096" y="1104773"/>
                  </a:cubicBezTo>
                  <a:lnTo>
                    <a:pt x="88392" y="1104773"/>
                  </a:lnTo>
                  <a:cubicBezTo>
                    <a:pt x="39624" y="1104773"/>
                    <a:pt x="0" y="1065149"/>
                    <a:pt x="0" y="1016381"/>
                  </a:cubicBezTo>
                  <a:close/>
                </a:path>
              </a:pathLst>
            </a:custGeom>
            <a:solidFill>
              <a:srgbClr val="0B3F1C"/>
            </a:solidFill>
            <a:ln w="28575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6571437" cy="11047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Evidence Validation Gate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BCCABE"/>
                  </a:solidFill>
                  <a:latin typeface="Verdana"/>
                  <a:ea typeface="Verdana"/>
                  <a:cs typeface="Verdana"/>
                  <a:sym typeface="Verdana"/>
                </a:rPr>
                <a:t>App code checks file, lines and excerpt; unsupported claims are rejected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592699" y="5472694"/>
            <a:ext cx="4914605" cy="814607"/>
            <a:chOff x="0" y="0"/>
            <a:chExt cx="6552806" cy="108614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552819" cy="1086104"/>
            </a:xfrm>
            <a:custGeom>
              <a:avLst/>
              <a:gdLst/>
              <a:ahLst/>
              <a:cxnLst/>
              <a:rect r="r" b="b" t="t" l="l"/>
              <a:pathLst>
                <a:path h="1086104" w="6552819">
                  <a:moveTo>
                    <a:pt x="0" y="86868"/>
                  </a:moveTo>
                  <a:cubicBezTo>
                    <a:pt x="0" y="38862"/>
                    <a:pt x="38862" y="0"/>
                    <a:pt x="86868" y="0"/>
                  </a:cubicBezTo>
                  <a:lnTo>
                    <a:pt x="6465951" y="0"/>
                  </a:lnTo>
                  <a:cubicBezTo>
                    <a:pt x="6513957" y="0"/>
                    <a:pt x="6552819" y="38862"/>
                    <a:pt x="6552819" y="86868"/>
                  </a:cubicBezTo>
                  <a:lnTo>
                    <a:pt x="6552819" y="999236"/>
                  </a:lnTo>
                  <a:cubicBezTo>
                    <a:pt x="6552819" y="1047242"/>
                    <a:pt x="6513957" y="1086104"/>
                    <a:pt x="6465951" y="1086104"/>
                  </a:cubicBezTo>
                  <a:lnTo>
                    <a:pt x="86868" y="1086104"/>
                  </a:lnTo>
                  <a:cubicBezTo>
                    <a:pt x="38862" y="1086104"/>
                    <a:pt x="0" y="1047242"/>
                    <a:pt x="0" y="999236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6552806" cy="1086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Matching &amp; Planning Engine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BCCABE"/>
                  </a:solidFill>
                  <a:latin typeface="Verdana"/>
                  <a:ea typeface="Verdana"/>
                  <a:cs typeface="Verdana"/>
                  <a:sym typeface="Verdana"/>
                </a:rPr>
                <a:t>Explainable rubric: role fit, gaps and learning tasks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592699" y="6382703"/>
            <a:ext cx="4914605" cy="814607"/>
            <a:chOff x="0" y="0"/>
            <a:chExt cx="6552806" cy="108614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552819" cy="1086104"/>
            </a:xfrm>
            <a:custGeom>
              <a:avLst/>
              <a:gdLst/>
              <a:ahLst/>
              <a:cxnLst/>
              <a:rect r="r" b="b" t="t" l="l"/>
              <a:pathLst>
                <a:path h="1086104" w="6552819">
                  <a:moveTo>
                    <a:pt x="0" y="86868"/>
                  </a:moveTo>
                  <a:cubicBezTo>
                    <a:pt x="0" y="38862"/>
                    <a:pt x="38862" y="0"/>
                    <a:pt x="86868" y="0"/>
                  </a:cubicBezTo>
                  <a:lnTo>
                    <a:pt x="6465951" y="0"/>
                  </a:lnTo>
                  <a:cubicBezTo>
                    <a:pt x="6513957" y="0"/>
                    <a:pt x="6552819" y="38862"/>
                    <a:pt x="6552819" y="86868"/>
                  </a:cubicBezTo>
                  <a:lnTo>
                    <a:pt x="6552819" y="999236"/>
                  </a:lnTo>
                  <a:cubicBezTo>
                    <a:pt x="6552819" y="1047242"/>
                    <a:pt x="6513957" y="1086104"/>
                    <a:pt x="6465951" y="1086104"/>
                  </a:cubicBezTo>
                  <a:lnTo>
                    <a:pt x="86868" y="1086104"/>
                  </a:lnTo>
                  <a:cubicBezTo>
                    <a:pt x="38862" y="1086104"/>
                    <a:pt x="0" y="1047242"/>
                    <a:pt x="0" y="999236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6552806" cy="1086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Access &amp; Sharing Controls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BCCABE"/>
                  </a:solidFill>
                  <a:latin typeface="Verdana"/>
                  <a:ea typeface="Verdana"/>
                  <a:cs typeface="Verdana"/>
                  <a:sym typeface="Verdana"/>
                </a:rPr>
                <a:t>Auth, owner-controlled visibility, revocable share links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492694" y="2742695"/>
            <a:ext cx="3564607" cy="814607"/>
            <a:chOff x="0" y="0"/>
            <a:chExt cx="4752810" cy="108614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752721" cy="1086104"/>
            </a:xfrm>
            <a:custGeom>
              <a:avLst/>
              <a:gdLst/>
              <a:ahLst/>
              <a:cxnLst/>
              <a:rect r="r" b="b" t="t" l="l"/>
              <a:pathLst>
                <a:path h="1086104" w="4752721">
                  <a:moveTo>
                    <a:pt x="0" y="86868"/>
                  </a:moveTo>
                  <a:cubicBezTo>
                    <a:pt x="0" y="38862"/>
                    <a:pt x="38862" y="0"/>
                    <a:pt x="86868" y="0"/>
                  </a:cubicBezTo>
                  <a:lnTo>
                    <a:pt x="4665853" y="0"/>
                  </a:lnTo>
                  <a:cubicBezTo>
                    <a:pt x="4713859" y="0"/>
                    <a:pt x="4752721" y="38862"/>
                    <a:pt x="4752721" y="86868"/>
                  </a:cubicBezTo>
                  <a:lnTo>
                    <a:pt x="4752721" y="999236"/>
                  </a:lnTo>
                  <a:cubicBezTo>
                    <a:pt x="4752721" y="1047242"/>
                    <a:pt x="4713859" y="1086104"/>
                    <a:pt x="4665853" y="1086104"/>
                  </a:cubicBezTo>
                  <a:lnTo>
                    <a:pt x="86868" y="1086104"/>
                  </a:lnTo>
                  <a:cubicBezTo>
                    <a:pt x="38862" y="1086104"/>
                    <a:pt x="0" y="1047242"/>
                    <a:pt x="0" y="999236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4752810" cy="1086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GitHub REST API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BCCABE"/>
                  </a:solidFill>
                  <a:latin typeface="Verdana"/>
                  <a:ea typeface="Verdana"/>
                  <a:cs typeface="Verdana"/>
                  <a:sym typeface="Verdana"/>
                </a:rPr>
                <a:t>Repository tree and file contents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492694" y="3652695"/>
            <a:ext cx="3564607" cy="814607"/>
            <a:chOff x="0" y="0"/>
            <a:chExt cx="4752810" cy="108614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752721" cy="1086104"/>
            </a:xfrm>
            <a:custGeom>
              <a:avLst/>
              <a:gdLst/>
              <a:ahLst/>
              <a:cxnLst/>
              <a:rect r="r" b="b" t="t" l="l"/>
              <a:pathLst>
                <a:path h="1086104" w="4752721">
                  <a:moveTo>
                    <a:pt x="0" y="86868"/>
                  </a:moveTo>
                  <a:cubicBezTo>
                    <a:pt x="0" y="38862"/>
                    <a:pt x="38862" y="0"/>
                    <a:pt x="86868" y="0"/>
                  </a:cubicBezTo>
                  <a:lnTo>
                    <a:pt x="4665853" y="0"/>
                  </a:lnTo>
                  <a:cubicBezTo>
                    <a:pt x="4713859" y="0"/>
                    <a:pt x="4752721" y="38862"/>
                    <a:pt x="4752721" y="86868"/>
                  </a:cubicBezTo>
                  <a:lnTo>
                    <a:pt x="4752721" y="999236"/>
                  </a:lnTo>
                  <a:cubicBezTo>
                    <a:pt x="4752721" y="1047242"/>
                    <a:pt x="4713859" y="1086104"/>
                    <a:pt x="4665853" y="1086104"/>
                  </a:cubicBezTo>
                  <a:lnTo>
                    <a:pt x="86868" y="1086104"/>
                  </a:lnTo>
                  <a:cubicBezTo>
                    <a:pt x="38862" y="1086104"/>
                    <a:pt x="0" y="1047242"/>
                    <a:pt x="0" y="999236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4752810" cy="1086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Gemini API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BCCABE"/>
                  </a:solidFill>
                  <a:latin typeface="Verdana"/>
                  <a:ea typeface="Verdana"/>
                  <a:cs typeface="Verdana"/>
                  <a:sym typeface="Verdana"/>
                </a:rPr>
                <a:t>Structured skill extraction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492694" y="4562694"/>
            <a:ext cx="3564607" cy="2634605"/>
            <a:chOff x="0" y="0"/>
            <a:chExt cx="4752810" cy="351280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752848" cy="3512820"/>
            </a:xfrm>
            <a:custGeom>
              <a:avLst/>
              <a:gdLst/>
              <a:ahLst/>
              <a:cxnLst/>
              <a:rect r="r" b="b" t="t" l="l"/>
              <a:pathLst>
                <a:path h="3512820" w="4752848">
                  <a:moveTo>
                    <a:pt x="0" y="281051"/>
                  </a:moveTo>
                  <a:cubicBezTo>
                    <a:pt x="0" y="125857"/>
                    <a:pt x="125857" y="0"/>
                    <a:pt x="281051" y="0"/>
                  </a:cubicBezTo>
                  <a:lnTo>
                    <a:pt x="4471797" y="0"/>
                  </a:lnTo>
                  <a:cubicBezTo>
                    <a:pt x="4626991" y="0"/>
                    <a:pt x="4752848" y="125857"/>
                    <a:pt x="4752848" y="281051"/>
                  </a:cubicBezTo>
                  <a:lnTo>
                    <a:pt x="4752848" y="3231769"/>
                  </a:lnTo>
                  <a:cubicBezTo>
                    <a:pt x="4752848" y="3386963"/>
                    <a:pt x="4626991" y="3512820"/>
                    <a:pt x="4471797" y="3512820"/>
                  </a:cubicBezTo>
                  <a:lnTo>
                    <a:pt x="281051" y="3512820"/>
                  </a:lnTo>
                  <a:cubicBezTo>
                    <a:pt x="125857" y="3512820"/>
                    <a:pt x="0" y="3386963"/>
                    <a:pt x="0" y="3231769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4752810" cy="3512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Supabase • PostgreSQL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BCCABE"/>
                  </a:solidFill>
                  <a:latin typeface="Verdana"/>
                  <a:ea typeface="Verdana"/>
                  <a:cs typeface="Verdana"/>
                  <a:sym typeface="Verdana"/>
                </a:rPr>
                <a:t>Auth and relational store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F5F8F5"/>
                  </a:solidFill>
                  <a:latin typeface="Verdana"/>
                  <a:ea typeface="Verdana"/>
                  <a:cs typeface="Verdana"/>
                  <a:sym typeface="Verdana"/>
                </a:rPr>
                <a:t>users • sources • source_fragments • skills • skill_claims • claim_evidence • role_assessments • role_requirements • learning_tasks • passport_shares</a:t>
              </a:r>
            </a:p>
          </p:txBody>
        </p:sp>
      </p:grpSp>
      <p:sp>
        <p:nvSpPr>
          <p:cNvPr name="AutoShape 67" id="67"/>
          <p:cNvSpPr/>
          <p:nvPr/>
        </p:nvSpPr>
        <p:spPr>
          <a:xfrm rot="64260">
            <a:off x="4590383" y="4650476"/>
            <a:ext cx="1019232" cy="0"/>
          </a:xfrm>
          <a:prstGeom prst="line">
            <a:avLst/>
          </a:prstGeom>
          <a:ln cap="rnd" w="19050">
            <a:solidFill>
              <a:srgbClr val="4AF56D"/>
            </a:solidFill>
            <a:prstDash val="solid"/>
            <a:headEnd type="triangle" len="med" w="lg"/>
            <a:tailEnd type="triangle" len="med" w="lg"/>
          </a:ln>
        </p:spPr>
      </p:sp>
      <p:grpSp>
        <p:nvGrpSpPr>
          <p:cNvPr name="Group 68" id="68"/>
          <p:cNvGrpSpPr/>
          <p:nvPr/>
        </p:nvGrpSpPr>
        <p:grpSpPr>
          <a:xfrm rot="0">
            <a:off x="4750003" y="4319997"/>
            <a:ext cx="700002" cy="279997"/>
            <a:chOff x="0" y="0"/>
            <a:chExt cx="933336" cy="37332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33333" cy="373333"/>
            </a:xfrm>
            <a:custGeom>
              <a:avLst/>
              <a:gdLst/>
              <a:ahLst/>
              <a:cxnLst/>
              <a:rect r="r" b="b" t="t" l="l"/>
              <a:pathLst>
                <a:path h="373333" w="933333">
                  <a:moveTo>
                    <a:pt x="0" y="0"/>
                  </a:moveTo>
                  <a:lnTo>
                    <a:pt x="933333" y="0"/>
                  </a:lnTo>
                  <a:lnTo>
                    <a:pt x="933333" y="373333"/>
                  </a:lnTo>
                  <a:lnTo>
                    <a:pt x="0" y="373333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320" t="0" r="-1320" b="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933336" cy="37332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4AF56D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HTTPS</a:t>
              </a: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4750003" y="4719999"/>
            <a:ext cx="700002" cy="27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b="true">
                <a:solidFill>
                  <a:srgbClr val="4AF56D"/>
                </a:solidFill>
                <a:latin typeface="Verdana Bold"/>
                <a:ea typeface="Verdana Bold"/>
                <a:cs typeface="Verdana Bold"/>
                <a:sym typeface="Verdana Bold"/>
              </a:rPr>
              <a:t>JSON</a:t>
            </a:r>
          </a:p>
        </p:txBody>
      </p:sp>
      <p:sp>
        <p:nvSpPr>
          <p:cNvPr name="AutoShape 72" id="72"/>
          <p:cNvSpPr/>
          <p:nvPr/>
        </p:nvSpPr>
        <p:spPr>
          <a:xfrm rot="64260">
            <a:off x="10490387" y="3140478"/>
            <a:ext cx="1019232" cy="0"/>
          </a:xfrm>
          <a:prstGeom prst="line">
            <a:avLst/>
          </a:prstGeom>
          <a:ln cap="rnd" w="19050">
            <a:solidFill>
              <a:srgbClr val="4AF56D"/>
            </a:solidFill>
            <a:prstDash val="solid"/>
            <a:headEnd type="triangle" len="med" w="lg"/>
            <a:tailEnd type="triangle" len="med" w="lg"/>
          </a:ln>
        </p:spPr>
      </p:sp>
      <p:sp>
        <p:nvSpPr>
          <p:cNvPr name="AutoShape 73" id="73"/>
          <p:cNvSpPr/>
          <p:nvPr/>
        </p:nvSpPr>
        <p:spPr>
          <a:xfrm rot="64260">
            <a:off x="10490387" y="4050478"/>
            <a:ext cx="1019232" cy="0"/>
          </a:xfrm>
          <a:prstGeom prst="line">
            <a:avLst/>
          </a:prstGeom>
          <a:ln cap="rnd" w="19050">
            <a:solidFill>
              <a:srgbClr val="4AF56D"/>
            </a:solidFill>
            <a:prstDash val="solid"/>
            <a:headEnd type="triangle" len="med" w="lg"/>
            <a:tailEnd type="triangle" len="med" w="lg"/>
          </a:ln>
        </p:spPr>
      </p:sp>
      <p:sp>
        <p:nvSpPr>
          <p:cNvPr name="AutoShape 74" id="74"/>
          <p:cNvSpPr/>
          <p:nvPr/>
        </p:nvSpPr>
        <p:spPr>
          <a:xfrm rot="64260">
            <a:off x="10490387" y="4960477"/>
            <a:ext cx="1019232" cy="0"/>
          </a:xfrm>
          <a:prstGeom prst="line">
            <a:avLst/>
          </a:prstGeom>
          <a:ln cap="rnd" w="19050">
            <a:solidFill>
              <a:srgbClr val="4AF56D"/>
            </a:solidFill>
            <a:prstDash val="solid"/>
            <a:headEnd type="triangle" len="med" w="lg"/>
            <a:tailEnd type="triangle" len="med" w="lg"/>
          </a:ln>
        </p:spPr>
      </p:sp>
      <p:sp>
        <p:nvSpPr>
          <p:cNvPr name="AutoShape 75" id="75"/>
          <p:cNvSpPr/>
          <p:nvPr/>
        </p:nvSpPr>
        <p:spPr>
          <a:xfrm rot="64260">
            <a:off x="10490387" y="5870477"/>
            <a:ext cx="1019232" cy="0"/>
          </a:xfrm>
          <a:prstGeom prst="line">
            <a:avLst/>
          </a:prstGeom>
          <a:ln cap="rnd" w="19050">
            <a:solidFill>
              <a:srgbClr val="4AF56D"/>
            </a:solidFill>
            <a:prstDash val="solid"/>
            <a:headEnd type="triangle" len="med" w="lg"/>
            <a:tailEnd type="triangle" len="med" w="lg"/>
          </a:ln>
        </p:spPr>
      </p:sp>
      <p:sp>
        <p:nvSpPr>
          <p:cNvPr name="AutoShape 76" id="76"/>
          <p:cNvSpPr/>
          <p:nvPr/>
        </p:nvSpPr>
        <p:spPr>
          <a:xfrm rot="64260">
            <a:off x="10490387" y="6780476"/>
            <a:ext cx="1019232" cy="0"/>
          </a:xfrm>
          <a:prstGeom prst="line">
            <a:avLst/>
          </a:prstGeom>
          <a:ln cap="rnd" w="19050">
            <a:solidFill>
              <a:srgbClr val="4AF56D"/>
            </a:solidFill>
            <a:prstDash val="solid"/>
            <a:headEnd type="triangle" len="med" w="lg"/>
            <a:tailEnd type="triangle" len="med" w="lg"/>
          </a:ln>
        </p:spPr>
      </p:sp>
      <p:sp>
        <p:nvSpPr>
          <p:cNvPr name="TextBox 77" id="77"/>
          <p:cNvSpPr txBox="true"/>
          <p:nvPr/>
        </p:nvSpPr>
        <p:spPr>
          <a:xfrm rot="0">
            <a:off x="749998" y="7500004"/>
            <a:ext cx="14449996" cy="59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4AF56D"/>
                </a:solidFill>
                <a:latin typeface="Verdana Bold"/>
                <a:ea typeface="Verdana Bold"/>
                <a:cs typeface="Verdana Bold"/>
                <a:sym typeface="Verdana Bold"/>
              </a:rPr>
              <a:t>Every accepted claim stores: </a:t>
            </a:r>
            <a:r>
              <a:rPr lang="en-US" sz="1599">
                <a:solidFill>
                  <a:srgbClr val="F5F8F5"/>
                </a:solidFill>
                <a:latin typeface="Verdana"/>
                <a:ea typeface="Verdana"/>
                <a:cs typeface="Verdana"/>
                <a:sym typeface="Verdana"/>
              </a:rPr>
              <a:t>Skill • Status • Proficiency • Source • File/Line • Rationale • Last-Analysed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4AF56D"/>
                </a:solidFill>
                <a:latin typeface="Verdana Bold"/>
                <a:ea typeface="Verdana Bold"/>
                <a:cs typeface="Verdana Bold"/>
                <a:sym typeface="Verdana Bold"/>
              </a:rPr>
              <a:t>MVP choice: </a:t>
            </a:r>
            <a:r>
              <a:rPr lang="en-US" sz="1599">
                <a:solidFill>
                  <a:srgbClr val="F5F8F5"/>
                </a:solidFill>
                <a:latin typeface="Verdana"/>
                <a:ea typeface="Verdana"/>
                <a:cs typeface="Verdana"/>
                <a:sym typeface="Verdana"/>
              </a:rPr>
              <a:t>one </a:t>
            </a:r>
            <a:r>
              <a:rPr lang="en-US" sz="1599" b="true">
                <a:solidFill>
                  <a:srgbClr val="F5F8F5"/>
                </a:solidFill>
                <a:latin typeface="Verdana Bold"/>
                <a:ea typeface="Verdana Bold"/>
                <a:cs typeface="Verdana Bold"/>
                <a:sym typeface="Verdana Bold"/>
              </a:rPr>
              <a:t>Next.js </a:t>
            </a:r>
            <a:r>
              <a:rPr lang="en-US" sz="1599">
                <a:solidFill>
                  <a:srgbClr val="F5F8F5"/>
                </a:solidFill>
                <a:latin typeface="Verdana"/>
                <a:ea typeface="Verdana"/>
                <a:cs typeface="Verdana"/>
                <a:sym typeface="Verdana"/>
              </a:rPr>
              <a:t>codebase on </a:t>
            </a:r>
            <a:r>
              <a:rPr lang="en-US" sz="1599" b="true">
                <a:solidFill>
                  <a:srgbClr val="F5F8F5"/>
                </a:solidFill>
                <a:latin typeface="Verdana Bold"/>
                <a:ea typeface="Verdana Bold"/>
                <a:cs typeface="Verdana Bold"/>
                <a:sym typeface="Verdana Bold"/>
              </a:rPr>
              <a:t>Vercel + Supabase</a:t>
            </a:r>
            <a:r>
              <a:rPr lang="en-US" sz="1599">
                <a:solidFill>
                  <a:srgbClr val="F5F8F5"/>
                </a:solidFill>
                <a:latin typeface="Verdana"/>
                <a:ea typeface="Verdana"/>
                <a:cs typeface="Verdana"/>
                <a:sym typeface="Verdana"/>
              </a:rPr>
              <a:t>; add a </a:t>
            </a:r>
            <a:r>
              <a:rPr lang="en-US" sz="1599" b="true">
                <a:solidFill>
                  <a:srgbClr val="F5F8F5"/>
                </a:solidFill>
                <a:latin typeface="Verdana Bold"/>
                <a:ea typeface="Verdana Bold"/>
                <a:cs typeface="Verdana Bold"/>
                <a:sym typeface="Verdana Bold"/>
              </a:rPr>
              <a:t>FastAPI</a:t>
            </a:r>
            <a:r>
              <a:rPr lang="en-US" sz="1599">
                <a:solidFill>
                  <a:srgbClr val="F5F8F5"/>
                </a:solidFill>
                <a:latin typeface="Verdana"/>
                <a:ea typeface="Verdana"/>
                <a:cs typeface="Verdana"/>
                <a:sym typeface="Verdana"/>
              </a:rPr>
              <a:t> service only if </a:t>
            </a:r>
            <a:r>
              <a:rPr lang="en-US" sz="1599" b="true">
                <a:solidFill>
                  <a:srgbClr val="F5F8F5"/>
                </a:solidFill>
                <a:latin typeface="Verdana Bold"/>
                <a:ea typeface="Verdana Bold"/>
                <a:cs typeface="Verdana Bold"/>
                <a:sym typeface="Verdana Bold"/>
              </a:rPr>
              <a:t>Python NLP/ML processing is required</a:t>
            </a:r>
            <a:r>
              <a:rPr lang="en-US" sz="1599">
                <a:solidFill>
                  <a:srgbClr val="F5F8F5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489" y="8963"/>
            <a:ext cx="15925800" cy="8925487"/>
            <a:chOff x="0" y="0"/>
            <a:chExt cx="21234400" cy="119006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34400" cy="11900662"/>
            </a:xfrm>
            <a:custGeom>
              <a:avLst/>
              <a:gdLst/>
              <a:ahLst/>
              <a:cxnLst/>
              <a:rect r="r" b="b" t="t" l="l"/>
              <a:pathLst>
                <a:path h="11900662" w="21234400">
                  <a:moveTo>
                    <a:pt x="0" y="0"/>
                  </a:moveTo>
                  <a:lnTo>
                    <a:pt x="21234400" y="0"/>
                  </a:lnTo>
                  <a:lnTo>
                    <a:pt x="21234400" y="11900662"/>
                  </a:lnTo>
                  <a:lnTo>
                    <a:pt x="0" y="119006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" t="0" r="-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489" y="8963"/>
            <a:ext cx="15925800" cy="8925487"/>
            <a:chOff x="0" y="0"/>
            <a:chExt cx="21234400" cy="119006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234400" cy="11900662"/>
            </a:xfrm>
            <a:custGeom>
              <a:avLst/>
              <a:gdLst/>
              <a:ahLst/>
              <a:cxnLst/>
              <a:rect r="r" b="b" t="t" l="l"/>
              <a:pathLst>
                <a:path h="11900662" w="21234400">
                  <a:moveTo>
                    <a:pt x="0" y="0"/>
                  </a:moveTo>
                  <a:lnTo>
                    <a:pt x="21234400" y="0"/>
                  </a:lnTo>
                  <a:lnTo>
                    <a:pt x="21234400" y="11900662"/>
                  </a:lnTo>
                  <a:lnTo>
                    <a:pt x="0" y="119006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" t="0" r="-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206" y="1114015"/>
            <a:ext cx="15916275" cy="200025"/>
            <a:chOff x="0" y="0"/>
            <a:chExt cx="21221700" cy="266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21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1221700">
                  <a:moveTo>
                    <a:pt x="0" y="0"/>
                  </a:moveTo>
                  <a:lnTo>
                    <a:pt x="21221700" y="0"/>
                  </a:lnTo>
                  <a:lnTo>
                    <a:pt x="21221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9" t="0" r="-2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06645" y="1846774"/>
            <a:ext cx="3609975" cy="561975"/>
            <a:chOff x="0" y="0"/>
            <a:chExt cx="4813300" cy="749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3300" cy="749300"/>
            </a:xfrm>
            <a:custGeom>
              <a:avLst/>
              <a:gdLst/>
              <a:ahLst/>
              <a:cxnLst/>
              <a:rect r="r" b="b" t="t" l="l"/>
              <a:pathLst>
                <a:path h="749300" w="4813300">
                  <a:moveTo>
                    <a:pt x="0" y="0"/>
                  </a:moveTo>
                  <a:lnTo>
                    <a:pt x="4813300" y="0"/>
                  </a:lnTo>
                  <a:lnTo>
                    <a:pt x="4813300" y="749300"/>
                  </a:lnTo>
                  <a:lnTo>
                    <a:pt x="0" y="749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9206" y="8017116"/>
            <a:ext cx="15916275" cy="390525"/>
            <a:chOff x="0" y="0"/>
            <a:chExt cx="21221700" cy="520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221700" cy="520700"/>
            </a:xfrm>
            <a:custGeom>
              <a:avLst/>
              <a:gdLst/>
              <a:ahLst/>
              <a:cxnLst/>
              <a:rect r="r" b="b" t="t" l="l"/>
              <a:pathLst>
                <a:path h="520700" w="21221700">
                  <a:moveTo>
                    <a:pt x="0" y="0"/>
                  </a:moveTo>
                  <a:lnTo>
                    <a:pt x="21221700" y="0"/>
                  </a:lnTo>
                  <a:lnTo>
                    <a:pt x="21221700" y="520700"/>
                  </a:lnTo>
                  <a:lnTo>
                    <a:pt x="0" y="520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9" t="0" r="-29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64891" y="8207550"/>
            <a:ext cx="962025" cy="200025"/>
            <a:chOff x="0" y="0"/>
            <a:chExt cx="1282700" cy="2667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2700" cy="266700"/>
            </a:xfrm>
            <a:custGeom>
              <a:avLst/>
              <a:gdLst/>
              <a:ahLst/>
              <a:cxnLst/>
              <a:rect r="r" b="b" t="t" l="l"/>
              <a:pathLst>
                <a:path h="266700" w="1282700">
                  <a:moveTo>
                    <a:pt x="0" y="0"/>
                  </a:moveTo>
                  <a:lnTo>
                    <a:pt x="1282700" y="0"/>
                  </a:lnTo>
                  <a:lnTo>
                    <a:pt x="1282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4" id="14" descr="$PPTXTitle"/>
          <p:cNvSpPr txBox="true"/>
          <p:nvPr/>
        </p:nvSpPr>
        <p:spPr>
          <a:xfrm rot="0">
            <a:off x="748741" y="1448124"/>
            <a:ext cx="1158541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9"/>
              </a:lnSpc>
            </a:pPr>
            <a:r>
              <a:rPr lang="en-US" sz="4149" spc="425">
                <a:solidFill>
                  <a:srgbClr val="4AF56D"/>
                </a:solidFill>
                <a:latin typeface="Bank Gothic Light"/>
                <a:ea typeface="Bank Gothic Light"/>
                <a:cs typeface="Bank Gothic Light"/>
                <a:sym typeface="Bank Gothic Light"/>
              </a:rPr>
              <a:t>Key Features &amp; UI/UX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42867" y="34623"/>
            <a:ext cx="1933575" cy="828675"/>
            <a:chOff x="0" y="0"/>
            <a:chExt cx="2578100" cy="11049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781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578100">
                  <a:moveTo>
                    <a:pt x="0" y="0"/>
                  </a:moveTo>
                  <a:lnTo>
                    <a:pt x="2578100" y="0"/>
                  </a:lnTo>
                  <a:lnTo>
                    <a:pt x="2578100" y="11049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0" y="27851"/>
            <a:ext cx="590550" cy="828675"/>
            <a:chOff x="0" y="0"/>
            <a:chExt cx="787400" cy="11049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874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787400">
                  <a:moveTo>
                    <a:pt x="0" y="0"/>
                  </a:moveTo>
                  <a:lnTo>
                    <a:pt x="787400" y="0"/>
                  </a:lnTo>
                  <a:lnTo>
                    <a:pt x="787400" y="11049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66" t="0" r="-467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064891" y="76724"/>
            <a:ext cx="1819275" cy="1038225"/>
            <a:chOff x="0" y="0"/>
            <a:chExt cx="2425700" cy="13843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25700" cy="1384300"/>
            </a:xfrm>
            <a:custGeom>
              <a:avLst/>
              <a:gdLst/>
              <a:ahLst/>
              <a:cxnLst/>
              <a:rect r="r" b="b" t="t" l="l"/>
              <a:pathLst>
                <a:path h="1384300" w="2425700">
                  <a:moveTo>
                    <a:pt x="0" y="0"/>
                  </a:moveTo>
                  <a:lnTo>
                    <a:pt x="2425700" y="0"/>
                  </a:lnTo>
                  <a:lnTo>
                    <a:pt x="2425700" y="1384300"/>
                  </a:lnTo>
                  <a:lnTo>
                    <a:pt x="0" y="138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65" r="0" b="-6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43645" y="2413654"/>
            <a:ext cx="14462703" cy="3212697"/>
            <a:chOff x="0" y="0"/>
            <a:chExt cx="19283604" cy="42835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283553" cy="4283583"/>
            </a:xfrm>
            <a:custGeom>
              <a:avLst/>
              <a:gdLst/>
              <a:ahLst/>
              <a:cxnLst/>
              <a:rect r="r" b="b" t="t" l="l"/>
              <a:pathLst>
                <a:path h="4283583" w="19283553">
                  <a:moveTo>
                    <a:pt x="0" y="107061"/>
                  </a:moveTo>
                  <a:cubicBezTo>
                    <a:pt x="0" y="48006"/>
                    <a:pt x="48006" y="0"/>
                    <a:pt x="107061" y="0"/>
                  </a:cubicBezTo>
                  <a:lnTo>
                    <a:pt x="19176492" y="0"/>
                  </a:lnTo>
                  <a:cubicBezTo>
                    <a:pt x="19235674" y="0"/>
                    <a:pt x="19283553" y="48006"/>
                    <a:pt x="19283553" y="107061"/>
                  </a:cubicBezTo>
                  <a:lnTo>
                    <a:pt x="19283553" y="4176522"/>
                  </a:lnTo>
                  <a:cubicBezTo>
                    <a:pt x="19283553" y="4235704"/>
                    <a:pt x="19235547" y="4283583"/>
                    <a:pt x="19176492" y="4283583"/>
                  </a:cubicBezTo>
                  <a:lnTo>
                    <a:pt x="107061" y="4283583"/>
                  </a:lnTo>
                  <a:cubicBezTo>
                    <a:pt x="47879" y="4283583"/>
                    <a:pt x="0" y="4235577"/>
                    <a:pt x="0" y="4176522"/>
                  </a:cubicBez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7716" r="0" b="-37716"/>
              </a:stretch>
            </a:blipFill>
            <a:ln w="12700" cap="sq">
              <a:solidFill>
                <a:srgbClr val="54C225"/>
              </a:solidFill>
              <a:prstDash val="dash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6085082" y="2515743"/>
            <a:ext cx="342983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4AF56D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STUDENT JOURNEY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42699" y="3117694"/>
            <a:ext cx="1914601" cy="1164603"/>
            <a:chOff x="0" y="0"/>
            <a:chExt cx="2552802" cy="15528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52827" cy="1552829"/>
            </a:xfrm>
            <a:custGeom>
              <a:avLst/>
              <a:gdLst/>
              <a:ahLst/>
              <a:cxnLst/>
              <a:rect r="r" b="b" t="t" l="l"/>
              <a:pathLst>
                <a:path h="1552829" w="2552827">
                  <a:moveTo>
                    <a:pt x="0" y="124206"/>
                  </a:moveTo>
                  <a:cubicBezTo>
                    <a:pt x="0" y="55626"/>
                    <a:pt x="55626" y="0"/>
                    <a:pt x="124206" y="0"/>
                  </a:cubicBezTo>
                  <a:lnTo>
                    <a:pt x="2428621" y="0"/>
                  </a:lnTo>
                  <a:cubicBezTo>
                    <a:pt x="2497201" y="0"/>
                    <a:pt x="2552827" y="55626"/>
                    <a:pt x="2552827" y="124206"/>
                  </a:cubicBezTo>
                  <a:lnTo>
                    <a:pt x="2552827" y="1428623"/>
                  </a:lnTo>
                  <a:cubicBezTo>
                    <a:pt x="2552827" y="1497203"/>
                    <a:pt x="2497201" y="1552829"/>
                    <a:pt x="2428621" y="1552829"/>
                  </a:cubicBezTo>
                  <a:lnTo>
                    <a:pt x="124206" y="1552829"/>
                  </a:lnTo>
                  <a:cubicBezTo>
                    <a:pt x="55626" y="1552829"/>
                    <a:pt x="0" y="1497203"/>
                    <a:pt x="0" y="1428623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2552802" cy="15528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4AF56D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INGESTION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Sign in &amp; submit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BCCABE"/>
                  </a:solidFill>
                  <a:latin typeface="Verdana"/>
                  <a:ea typeface="Verdana"/>
                  <a:cs typeface="Verdana"/>
                  <a:sym typeface="Verdana"/>
                </a:rPr>
                <a:t>GitHub repo + résumé PDF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192694" y="3112941"/>
            <a:ext cx="2114607" cy="1164603"/>
            <a:chOff x="0" y="0"/>
            <a:chExt cx="2819476" cy="155280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819400" cy="1552829"/>
            </a:xfrm>
            <a:custGeom>
              <a:avLst/>
              <a:gdLst/>
              <a:ahLst/>
              <a:cxnLst/>
              <a:rect r="r" b="b" t="t" l="l"/>
              <a:pathLst>
                <a:path h="1552829" w="2819400">
                  <a:moveTo>
                    <a:pt x="0" y="124206"/>
                  </a:moveTo>
                  <a:cubicBezTo>
                    <a:pt x="0" y="55626"/>
                    <a:pt x="55626" y="0"/>
                    <a:pt x="124206" y="0"/>
                  </a:cubicBezTo>
                  <a:lnTo>
                    <a:pt x="2695194" y="0"/>
                  </a:lnTo>
                  <a:cubicBezTo>
                    <a:pt x="2763774" y="0"/>
                    <a:pt x="2819400" y="55626"/>
                    <a:pt x="2819400" y="124206"/>
                  </a:cubicBezTo>
                  <a:lnTo>
                    <a:pt x="2819400" y="1428623"/>
                  </a:lnTo>
                  <a:cubicBezTo>
                    <a:pt x="2819400" y="1497203"/>
                    <a:pt x="2763774" y="1552829"/>
                    <a:pt x="2695194" y="1552829"/>
                  </a:cubicBezTo>
                  <a:lnTo>
                    <a:pt x="124206" y="1552829"/>
                  </a:lnTo>
                  <a:cubicBezTo>
                    <a:pt x="55626" y="1552829"/>
                    <a:pt x="0" y="1497203"/>
                    <a:pt x="0" y="1428623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2819476" cy="15528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4AF56D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VERIFICATION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AI analysis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BCCABE"/>
                  </a:solidFill>
                  <a:latin typeface="Verdana"/>
                  <a:ea typeface="Verdana"/>
                  <a:cs typeface="Verdana"/>
                  <a:sym typeface="Verdana"/>
                </a:rPr>
                <a:t>Unsupported claims are rejected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602700" y="3117694"/>
            <a:ext cx="1914601" cy="1164603"/>
            <a:chOff x="0" y="0"/>
            <a:chExt cx="2552802" cy="155280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552827" cy="1552829"/>
            </a:xfrm>
            <a:custGeom>
              <a:avLst/>
              <a:gdLst/>
              <a:ahLst/>
              <a:cxnLst/>
              <a:rect r="r" b="b" t="t" l="l"/>
              <a:pathLst>
                <a:path h="1552829" w="2552827">
                  <a:moveTo>
                    <a:pt x="0" y="124206"/>
                  </a:moveTo>
                  <a:cubicBezTo>
                    <a:pt x="0" y="55626"/>
                    <a:pt x="55626" y="0"/>
                    <a:pt x="124206" y="0"/>
                  </a:cubicBezTo>
                  <a:lnTo>
                    <a:pt x="2428621" y="0"/>
                  </a:lnTo>
                  <a:cubicBezTo>
                    <a:pt x="2497201" y="0"/>
                    <a:pt x="2552827" y="55626"/>
                    <a:pt x="2552827" y="124206"/>
                  </a:cubicBezTo>
                  <a:lnTo>
                    <a:pt x="2552827" y="1428623"/>
                  </a:lnTo>
                  <a:cubicBezTo>
                    <a:pt x="2552827" y="1497203"/>
                    <a:pt x="2497201" y="1552829"/>
                    <a:pt x="2428621" y="1552829"/>
                  </a:cubicBezTo>
                  <a:lnTo>
                    <a:pt x="124206" y="1552829"/>
                  </a:lnTo>
                  <a:cubicBezTo>
                    <a:pt x="55626" y="1552829"/>
                    <a:pt x="0" y="1497203"/>
                    <a:pt x="0" y="1428623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2552802" cy="15528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4AF56D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PASSPORT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Review passport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BCCABE"/>
                  </a:solidFill>
                  <a:latin typeface="Verdana"/>
                  <a:ea typeface="Verdana"/>
                  <a:cs typeface="Verdana"/>
                  <a:sym typeface="Verdana"/>
                </a:rPr>
                <a:t>Statuses, proficiency, evidence drawer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932696" y="3117694"/>
            <a:ext cx="1914601" cy="1164603"/>
            <a:chOff x="0" y="0"/>
            <a:chExt cx="2552802" cy="155280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52827" cy="1552829"/>
            </a:xfrm>
            <a:custGeom>
              <a:avLst/>
              <a:gdLst/>
              <a:ahLst/>
              <a:cxnLst/>
              <a:rect r="r" b="b" t="t" l="l"/>
              <a:pathLst>
                <a:path h="1552829" w="2552827">
                  <a:moveTo>
                    <a:pt x="0" y="124206"/>
                  </a:moveTo>
                  <a:cubicBezTo>
                    <a:pt x="0" y="55626"/>
                    <a:pt x="55626" y="0"/>
                    <a:pt x="124206" y="0"/>
                  </a:cubicBezTo>
                  <a:lnTo>
                    <a:pt x="2428621" y="0"/>
                  </a:lnTo>
                  <a:cubicBezTo>
                    <a:pt x="2497201" y="0"/>
                    <a:pt x="2552827" y="55626"/>
                    <a:pt x="2552827" y="124206"/>
                  </a:cubicBezTo>
                  <a:lnTo>
                    <a:pt x="2552827" y="1428623"/>
                  </a:lnTo>
                  <a:cubicBezTo>
                    <a:pt x="2552827" y="1497203"/>
                    <a:pt x="2497201" y="1552829"/>
                    <a:pt x="2428621" y="1552829"/>
                  </a:cubicBezTo>
                  <a:lnTo>
                    <a:pt x="124206" y="1552829"/>
                  </a:lnTo>
                  <a:cubicBezTo>
                    <a:pt x="55626" y="1552829"/>
                    <a:pt x="0" y="1497203"/>
                    <a:pt x="0" y="1428623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2552802" cy="15528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4AF56D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ROLE MATCHER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Match a role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BCCABE"/>
                  </a:solidFill>
                  <a:latin typeface="Verdana"/>
                  <a:ea typeface="Verdana"/>
                  <a:cs typeface="Verdana"/>
                  <a:sym typeface="Verdana"/>
                </a:rPr>
                <a:t>Paste a job description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255710" y="2835716"/>
            <a:ext cx="2428580" cy="1728578"/>
            <a:chOff x="0" y="0"/>
            <a:chExt cx="3238106" cy="230477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238119" cy="2304796"/>
            </a:xfrm>
            <a:custGeom>
              <a:avLst/>
              <a:gdLst/>
              <a:ahLst/>
              <a:cxnLst/>
              <a:rect r="r" b="b" t="t" l="l"/>
              <a:pathLst>
                <a:path h="2304796" w="3238119">
                  <a:moveTo>
                    <a:pt x="0" y="1152398"/>
                  </a:moveTo>
                  <a:lnTo>
                    <a:pt x="1618996" y="0"/>
                  </a:lnTo>
                  <a:lnTo>
                    <a:pt x="3238119" y="1152398"/>
                  </a:lnTo>
                  <a:lnTo>
                    <a:pt x="1618996" y="2304796"/>
                  </a:lnTo>
                  <a:close/>
                </a:path>
              </a:pathLst>
            </a:custGeom>
            <a:solidFill>
              <a:srgbClr val="0B3F1C"/>
            </a:solidFill>
            <a:ln w="28575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3238106" cy="2304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Gaps found?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092694" y="3117694"/>
            <a:ext cx="1914601" cy="1164603"/>
            <a:chOff x="0" y="0"/>
            <a:chExt cx="2552802" cy="155280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552827" cy="1552829"/>
            </a:xfrm>
            <a:custGeom>
              <a:avLst/>
              <a:gdLst/>
              <a:ahLst/>
              <a:cxnLst/>
              <a:rect r="r" b="b" t="t" l="l"/>
              <a:pathLst>
                <a:path h="1552829" w="2552827">
                  <a:moveTo>
                    <a:pt x="0" y="124206"/>
                  </a:moveTo>
                  <a:cubicBezTo>
                    <a:pt x="0" y="55626"/>
                    <a:pt x="55626" y="0"/>
                    <a:pt x="124206" y="0"/>
                  </a:cubicBezTo>
                  <a:lnTo>
                    <a:pt x="2428621" y="0"/>
                  </a:lnTo>
                  <a:cubicBezTo>
                    <a:pt x="2497201" y="0"/>
                    <a:pt x="2552827" y="55626"/>
                    <a:pt x="2552827" y="124206"/>
                  </a:cubicBezTo>
                  <a:lnTo>
                    <a:pt x="2552827" y="1428623"/>
                  </a:lnTo>
                  <a:cubicBezTo>
                    <a:pt x="2552827" y="1497203"/>
                    <a:pt x="2497201" y="1552829"/>
                    <a:pt x="2428621" y="1552829"/>
                  </a:cubicBezTo>
                  <a:lnTo>
                    <a:pt x="124206" y="1552829"/>
                  </a:lnTo>
                  <a:cubicBezTo>
                    <a:pt x="55626" y="1552829"/>
                    <a:pt x="0" y="1497203"/>
                    <a:pt x="0" y="1428623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2552802" cy="15528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4AF56D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RECRUITER VIEW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Share passport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>
                  <a:solidFill>
                    <a:srgbClr val="BCCABE"/>
                  </a:solidFill>
                  <a:latin typeface="Verdana"/>
                  <a:ea typeface="Verdana"/>
                  <a:cs typeface="Verdana"/>
                  <a:sym typeface="Verdana"/>
                </a:rPr>
                <a:t>Read-only link; owner can revoke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 rot="-221460">
            <a:off x="2840088" y="3688099"/>
            <a:ext cx="369818" cy="19050"/>
          </a:xfrm>
          <a:prstGeom prst="line">
            <a:avLst/>
          </a:prstGeom>
          <a:ln cap="rnd" w="19050">
            <a:solidFill>
              <a:srgbClr val="4AF56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3" id="43"/>
          <p:cNvSpPr/>
          <p:nvPr/>
        </p:nvSpPr>
        <p:spPr>
          <a:xfrm rot="248340">
            <a:off x="5290042" y="3688099"/>
            <a:ext cx="329908" cy="19050"/>
          </a:xfrm>
          <a:prstGeom prst="line">
            <a:avLst/>
          </a:prstGeom>
          <a:ln cap="rnd" w="19050">
            <a:solidFill>
              <a:srgbClr val="4AF56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4" id="44"/>
          <p:cNvSpPr/>
          <p:nvPr/>
        </p:nvSpPr>
        <p:spPr>
          <a:xfrm rot="145740">
            <a:off x="7500271" y="3690471"/>
            <a:ext cx="449456" cy="0"/>
          </a:xfrm>
          <a:prstGeom prst="line">
            <a:avLst/>
          </a:prstGeom>
          <a:ln cap="rnd" w="19050">
            <a:solidFill>
              <a:srgbClr val="4AF56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5" id="45"/>
          <p:cNvSpPr/>
          <p:nvPr/>
        </p:nvSpPr>
        <p:spPr>
          <a:xfrm rot="145740">
            <a:off x="9830276" y="3690471"/>
            <a:ext cx="449456" cy="0"/>
          </a:xfrm>
          <a:prstGeom prst="line">
            <a:avLst/>
          </a:prstGeom>
          <a:ln cap="rnd" w="19050">
            <a:solidFill>
              <a:srgbClr val="4AF56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6" id="46"/>
          <p:cNvSpPr/>
          <p:nvPr/>
        </p:nvSpPr>
        <p:spPr>
          <a:xfrm rot="145740">
            <a:off x="12660278" y="3690471"/>
            <a:ext cx="449456" cy="0"/>
          </a:xfrm>
          <a:prstGeom prst="line">
            <a:avLst/>
          </a:prstGeom>
          <a:ln cap="rnd" w="19050">
            <a:solidFill>
              <a:srgbClr val="4AF56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7" id="47"/>
          <p:cNvGrpSpPr/>
          <p:nvPr/>
        </p:nvGrpSpPr>
        <p:grpSpPr>
          <a:xfrm rot="0">
            <a:off x="12670003" y="3319996"/>
            <a:ext cx="429997" cy="279997"/>
            <a:chOff x="0" y="0"/>
            <a:chExt cx="573329" cy="37332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73333" cy="373333"/>
            </a:xfrm>
            <a:custGeom>
              <a:avLst/>
              <a:gdLst/>
              <a:ahLst/>
              <a:cxnLst/>
              <a:rect r="r" b="b" t="t" l="l"/>
              <a:pathLst>
                <a:path h="373333" w="573333">
                  <a:moveTo>
                    <a:pt x="0" y="0"/>
                  </a:moveTo>
                  <a:lnTo>
                    <a:pt x="573333" y="0"/>
                  </a:lnTo>
                  <a:lnTo>
                    <a:pt x="573333" y="373333"/>
                  </a:lnTo>
                  <a:lnTo>
                    <a:pt x="0" y="373333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33545" t="0" r="-33545" b="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573329" cy="37332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4AF56D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No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 rot="5157000">
            <a:off x="11335141" y="4665478"/>
            <a:ext cx="269719" cy="0"/>
          </a:xfrm>
          <a:prstGeom prst="line">
            <a:avLst/>
          </a:prstGeom>
          <a:ln cap="rnd" w="19050">
            <a:solidFill>
              <a:srgbClr val="4AF56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51" id="51"/>
          <p:cNvSpPr txBox="true"/>
          <p:nvPr/>
        </p:nvSpPr>
        <p:spPr>
          <a:xfrm rot="0">
            <a:off x="11586248" y="4510154"/>
            <a:ext cx="499996" cy="27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4AF56D"/>
                </a:solidFill>
                <a:latin typeface="Verdana Bold"/>
                <a:ea typeface="Verdana Bold"/>
                <a:cs typeface="Verdana Bold"/>
                <a:sym typeface="Verdana Bold"/>
              </a:rPr>
              <a:t>Yes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0012699" y="4792694"/>
            <a:ext cx="2914602" cy="754609"/>
            <a:chOff x="0" y="0"/>
            <a:chExt cx="3886136" cy="100614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886200" cy="1006221"/>
            </a:xfrm>
            <a:custGeom>
              <a:avLst/>
              <a:gdLst/>
              <a:ahLst/>
              <a:cxnLst/>
              <a:rect r="r" b="b" t="t" l="l"/>
              <a:pathLst>
                <a:path h="1006221" w="3886200">
                  <a:moveTo>
                    <a:pt x="0" y="80518"/>
                  </a:moveTo>
                  <a:cubicBezTo>
                    <a:pt x="0" y="36068"/>
                    <a:pt x="36068" y="0"/>
                    <a:pt x="80518" y="0"/>
                  </a:cubicBezTo>
                  <a:lnTo>
                    <a:pt x="3805682" y="0"/>
                  </a:lnTo>
                  <a:cubicBezTo>
                    <a:pt x="3850132" y="0"/>
                    <a:pt x="3886200" y="36068"/>
                    <a:pt x="3886200" y="80518"/>
                  </a:cubicBezTo>
                  <a:lnTo>
                    <a:pt x="3886200" y="925703"/>
                  </a:lnTo>
                  <a:cubicBezTo>
                    <a:pt x="3886200" y="970153"/>
                    <a:pt x="3850132" y="1006221"/>
                    <a:pt x="3805682" y="1006221"/>
                  </a:cubicBezTo>
                  <a:lnTo>
                    <a:pt x="80518" y="1006221"/>
                  </a:lnTo>
                  <a:cubicBezTo>
                    <a:pt x="36068" y="1006094"/>
                    <a:pt x="0" y="970153"/>
                    <a:pt x="0" y="925703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3886136" cy="1006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4AF56D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PERSONALISED LEARNING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Learning plan</a:t>
              </a:r>
            </a:p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BCCABE"/>
                  </a:solidFill>
                  <a:latin typeface="Verdana"/>
                  <a:ea typeface="Verdana"/>
                  <a:cs typeface="Verdana"/>
                  <a:sym typeface="Verdana"/>
                </a:rPr>
                <a:t>Small projects with deliverables</a:t>
              </a:r>
            </a:p>
          </p:txBody>
        </p:sp>
      </p:grpSp>
      <p:sp>
        <p:nvSpPr>
          <p:cNvPr name="AutoShape 55" id="55"/>
          <p:cNvSpPr/>
          <p:nvPr/>
        </p:nvSpPr>
        <p:spPr>
          <a:xfrm rot="10788720">
            <a:off x="4220461" y="5160474"/>
            <a:ext cx="5809078" cy="0"/>
          </a:xfrm>
          <a:prstGeom prst="line">
            <a:avLst/>
          </a:prstGeom>
          <a:ln cap="rnd" w="19050">
            <a:solidFill>
              <a:srgbClr val="4AF5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 rot="-5328360">
            <a:off x="3772872" y="4712980"/>
            <a:ext cx="914248" cy="0"/>
          </a:xfrm>
          <a:prstGeom prst="line">
            <a:avLst/>
          </a:prstGeom>
          <a:ln cap="rnd" w="19050">
            <a:solidFill>
              <a:srgbClr val="4AF56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57" id="57"/>
          <p:cNvSpPr txBox="true"/>
          <p:nvPr/>
        </p:nvSpPr>
        <p:spPr>
          <a:xfrm rot="0">
            <a:off x="4479998" y="4849997"/>
            <a:ext cx="5299996" cy="27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4AF56D"/>
                </a:solidFill>
                <a:latin typeface="Verdana"/>
                <a:ea typeface="Verdana"/>
                <a:cs typeface="Verdana"/>
                <a:sym typeface="Verdana"/>
              </a:rPr>
              <a:t>New work is submitted as evidence and re-analysed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743645" y="5950772"/>
            <a:ext cx="14462684" cy="1985582"/>
            <a:chOff x="0" y="0"/>
            <a:chExt cx="19283578" cy="264744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9283680" cy="2647442"/>
            </a:xfrm>
            <a:custGeom>
              <a:avLst/>
              <a:gdLst/>
              <a:ahLst/>
              <a:cxnLst/>
              <a:rect r="r" b="b" t="t" l="l"/>
              <a:pathLst>
                <a:path h="2647442" w="19283680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lnTo>
                    <a:pt x="19190970" y="0"/>
                  </a:lnTo>
                  <a:cubicBezTo>
                    <a:pt x="19242151" y="0"/>
                    <a:pt x="19283680" y="41529"/>
                    <a:pt x="19283680" y="92710"/>
                  </a:cubicBezTo>
                  <a:lnTo>
                    <a:pt x="19283680" y="2554732"/>
                  </a:lnTo>
                  <a:cubicBezTo>
                    <a:pt x="19283680" y="2605913"/>
                    <a:pt x="19242151" y="2647442"/>
                    <a:pt x="19190970" y="2647442"/>
                  </a:cubicBezTo>
                  <a:lnTo>
                    <a:pt x="92710" y="2647442"/>
                  </a:lnTo>
                  <a:cubicBezTo>
                    <a:pt x="41529" y="2647442"/>
                    <a:pt x="0" y="2605913"/>
                    <a:pt x="0" y="2554732"/>
                  </a:cubicBez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91926" r="0" b="-91926"/>
              </a:stretch>
            </a:blipFill>
            <a:ln w="12700" cap="sq">
              <a:solidFill>
                <a:srgbClr val="54C225"/>
              </a:solidFill>
              <a:prstDash val="dash"/>
              <a:miter/>
            </a:ln>
          </p:spPr>
        </p:sp>
      </p:grpSp>
      <p:sp>
        <p:nvSpPr>
          <p:cNvPr name="TextBox 60" id="60"/>
          <p:cNvSpPr txBox="true"/>
          <p:nvPr/>
        </p:nvSpPr>
        <p:spPr>
          <a:xfrm rot="0">
            <a:off x="6149192" y="5997978"/>
            <a:ext cx="379380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4AF56D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RECRUITER JOURNEY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942699" y="6472695"/>
            <a:ext cx="2314604" cy="1214599"/>
            <a:chOff x="0" y="0"/>
            <a:chExt cx="3086138" cy="161946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086100" cy="1619504"/>
            </a:xfrm>
            <a:custGeom>
              <a:avLst/>
              <a:gdLst/>
              <a:ahLst/>
              <a:cxnLst/>
              <a:rect r="r" b="b" t="t" l="l"/>
              <a:pathLst>
                <a:path h="1619504" w="3086100">
                  <a:moveTo>
                    <a:pt x="0" y="129540"/>
                  </a:moveTo>
                  <a:cubicBezTo>
                    <a:pt x="0" y="58039"/>
                    <a:pt x="58039" y="0"/>
                    <a:pt x="129540" y="0"/>
                  </a:cubicBezTo>
                  <a:lnTo>
                    <a:pt x="2956560" y="0"/>
                  </a:lnTo>
                  <a:cubicBezTo>
                    <a:pt x="3028188" y="0"/>
                    <a:pt x="3086100" y="58039"/>
                    <a:pt x="3086100" y="129540"/>
                  </a:cubicBezTo>
                  <a:lnTo>
                    <a:pt x="3086100" y="1489964"/>
                  </a:lnTo>
                  <a:cubicBezTo>
                    <a:pt x="3086100" y="1561465"/>
                    <a:pt x="3028061" y="1619504"/>
                    <a:pt x="2956560" y="1619504"/>
                  </a:cubicBezTo>
                  <a:lnTo>
                    <a:pt x="129540" y="1619504"/>
                  </a:lnTo>
                  <a:cubicBezTo>
                    <a:pt x="58039" y="1619504"/>
                    <a:pt x="0" y="1561465"/>
                    <a:pt x="0" y="1489964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3086138" cy="1619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4AF56D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RECRUITER VIEW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Open shared link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BCCABE"/>
                  </a:solidFill>
                  <a:latin typeface="Verdana"/>
                  <a:ea typeface="Verdana"/>
                  <a:cs typeface="Verdana"/>
                  <a:sym typeface="Verdana"/>
                </a:rPr>
                <a:t>Read-only passport with analysis time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3792703" y="6472695"/>
            <a:ext cx="2314604" cy="1214599"/>
            <a:chOff x="0" y="0"/>
            <a:chExt cx="3086138" cy="161946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086100" cy="1619504"/>
            </a:xfrm>
            <a:custGeom>
              <a:avLst/>
              <a:gdLst/>
              <a:ahLst/>
              <a:cxnLst/>
              <a:rect r="r" b="b" t="t" l="l"/>
              <a:pathLst>
                <a:path h="1619504" w="3086100">
                  <a:moveTo>
                    <a:pt x="0" y="129540"/>
                  </a:moveTo>
                  <a:cubicBezTo>
                    <a:pt x="0" y="58039"/>
                    <a:pt x="58039" y="0"/>
                    <a:pt x="129540" y="0"/>
                  </a:cubicBezTo>
                  <a:lnTo>
                    <a:pt x="2956560" y="0"/>
                  </a:lnTo>
                  <a:cubicBezTo>
                    <a:pt x="3028188" y="0"/>
                    <a:pt x="3086100" y="58039"/>
                    <a:pt x="3086100" y="129540"/>
                  </a:cubicBezTo>
                  <a:lnTo>
                    <a:pt x="3086100" y="1489964"/>
                  </a:lnTo>
                  <a:cubicBezTo>
                    <a:pt x="3086100" y="1561465"/>
                    <a:pt x="3028061" y="1619504"/>
                    <a:pt x="2956560" y="1619504"/>
                  </a:cubicBezTo>
                  <a:lnTo>
                    <a:pt x="129540" y="1619504"/>
                  </a:lnTo>
                  <a:cubicBezTo>
                    <a:pt x="58039" y="1619504"/>
                    <a:pt x="0" y="1561465"/>
                    <a:pt x="0" y="1489964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3086138" cy="1619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4AF56D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PASSPORT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Scan skill statuses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BCCABE"/>
                  </a:solidFill>
                  <a:latin typeface="Verdana"/>
                  <a:ea typeface="Verdana"/>
                  <a:cs typeface="Verdana"/>
                  <a:sym typeface="Verdana"/>
                </a:rPr>
                <a:t>Demonstrated, partial, unverified, not found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642697" y="6472695"/>
            <a:ext cx="2314604" cy="1214599"/>
            <a:chOff x="0" y="0"/>
            <a:chExt cx="3086138" cy="161946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086100" cy="1619504"/>
            </a:xfrm>
            <a:custGeom>
              <a:avLst/>
              <a:gdLst/>
              <a:ahLst/>
              <a:cxnLst/>
              <a:rect r="r" b="b" t="t" l="l"/>
              <a:pathLst>
                <a:path h="1619504" w="3086100">
                  <a:moveTo>
                    <a:pt x="0" y="129540"/>
                  </a:moveTo>
                  <a:cubicBezTo>
                    <a:pt x="0" y="58039"/>
                    <a:pt x="58039" y="0"/>
                    <a:pt x="129540" y="0"/>
                  </a:cubicBezTo>
                  <a:lnTo>
                    <a:pt x="2956560" y="0"/>
                  </a:lnTo>
                  <a:cubicBezTo>
                    <a:pt x="3028188" y="0"/>
                    <a:pt x="3086100" y="58039"/>
                    <a:pt x="3086100" y="129540"/>
                  </a:cubicBezTo>
                  <a:lnTo>
                    <a:pt x="3086100" y="1489964"/>
                  </a:lnTo>
                  <a:cubicBezTo>
                    <a:pt x="3086100" y="1561465"/>
                    <a:pt x="3028061" y="1619504"/>
                    <a:pt x="2956560" y="1619504"/>
                  </a:cubicBezTo>
                  <a:lnTo>
                    <a:pt x="129540" y="1619504"/>
                  </a:lnTo>
                  <a:cubicBezTo>
                    <a:pt x="58039" y="1619504"/>
                    <a:pt x="0" y="1561465"/>
                    <a:pt x="0" y="1489964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3086138" cy="1619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4AF56D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EVIDENCE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Inspect evidence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BCCABE"/>
                  </a:solidFill>
                  <a:latin typeface="Verdana"/>
                  <a:ea typeface="Verdana"/>
                  <a:cs typeface="Verdana"/>
                  <a:sym typeface="Verdana"/>
                </a:rPr>
                <a:t>File, line range and excerpt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492701" y="6472695"/>
            <a:ext cx="2314604" cy="1214599"/>
            <a:chOff x="0" y="0"/>
            <a:chExt cx="3086138" cy="161946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086100" cy="1619504"/>
            </a:xfrm>
            <a:custGeom>
              <a:avLst/>
              <a:gdLst/>
              <a:ahLst/>
              <a:cxnLst/>
              <a:rect r="r" b="b" t="t" l="l"/>
              <a:pathLst>
                <a:path h="1619504" w="3086100">
                  <a:moveTo>
                    <a:pt x="0" y="129540"/>
                  </a:moveTo>
                  <a:cubicBezTo>
                    <a:pt x="0" y="58039"/>
                    <a:pt x="58039" y="0"/>
                    <a:pt x="129540" y="0"/>
                  </a:cubicBezTo>
                  <a:lnTo>
                    <a:pt x="2956560" y="0"/>
                  </a:lnTo>
                  <a:cubicBezTo>
                    <a:pt x="3028188" y="0"/>
                    <a:pt x="3086100" y="58039"/>
                    <a:pt x="3086100" y="129540"/>
                  </a:cubicBezTo>
                  <a:lnTo>
                    <a:pt x="3086100" y="1489964"/>
                  </a:lnTo>
                  <a:cubicBezTo>
                    <a:pt x="3086100" y="1561465"/>
                    <a:pt x="3028061" y="1619504"/>
                    <a:pt x="2956560" y="1619504"/>
                  </a:cubicBezTo>
                  <a:lnTo>
                    <a:pt x="129540" y="1619504"/>
                  </a:lnTo>
                  <a:cubicBezTo>
                    <a:pt x="58039" y="1619504"/>
                    <a:pt x="0" y="1561465"/>
                    <a:pt x="0" y="1489964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086138" cy="1619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4AF56D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ROLE MATCHER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Check role fit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BCCABE"/>
                  </a:solidFill>
                  <a:latin typeface="Verdana"/>
                  <a:ea typeface="Verdana"/>
                  <a:cs typeface="Verdana"/>
                  <a:sym typeface="Verdana"/>
                </a:rPr>
                <a:t>Requirement-by-requirement status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342695" y="6472695"/>
            <a:ext cx="2314604" cy="1214599"/>
            <a:chOff x="0" y="0"/>
            <a:chExt cx="3086138" cy="161946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086100" cy="1619504"/>
            </a:xfrm>
            <a:custGeom>
              <a:avLst/>
              <a:gdLst/>
              <a:ahLst/>
              <a:cxnLst/>
              <a:rect r="r" b="b" t="t" l="l"/>
              <a:pathLst>
                <a:path h="1619504" w="3086100">
                  <a:moveTo>
                    <a:pt x="0" y="129540"/>
                  </a:moveTo>
                  <a:cubicBezTo>
                    <a:pt x="0" y="58039"/>
                    <a:pt x="58039" y="0"/>
                    <a:pt x="129540" y="0"/>
                  </a:cubicBezTo>
                  <a:lnTo>
                    <a:pt x="2956560" y="0"/>
                  </a:lnTo>
                  <a:cubicBezTo>
                    <a:pt x="3028188" y="0"/>
                    <a:pt x="3086100" y="58039"/>
                    <a:pt x="3086100" y="129540"/>
                  </a:cubicBezTo>
                  <a:lnTo>
                    <a:pt x="3086100" y="1489964"/>
                  </a:lnTo>
                  <a:cubicBezTo>
                    <a:pt x="3086100" y="1561465"/>
                    <a:pt x="3028061" y="1619504"/>
                    <a:pt x="2956560" y="1619504"/>
                  </a:cubicBezTo>
                  <a:lnTo>
                    <a:pt x="129540" y="1619504"/>
                  </a:lnTo>
                  <a:cubicBezTo>
                    <a:pt x="58039" y="1619504"/>
                    <a:pt x="0" y="1561465"/>
                    <a:pt x="0" y="1489964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3086138" cy="1619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4AF56D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UI RULE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Decide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BCCABE"/>
                  </a:solidFill>
                  <a:latin typeface="Verdana"/>
                  <a:ea typeface="Verdana"/>
                  <a:cs typeface="Verdana"/>
                  <a:sym typeface="Verdana"/>
                </a:rPr>
                <a:t>Evidence reachable in under a minute</a:t>
              </a:r>
            </a:p>
          </p:txBody>
        </p:sp>
      </p:grpSp>
      <p:sp>
        <p:nvSpPr>
          <p:cNvPr name="AutoShape 76" id="76"/>
          <p:cNvSpPr/>
          <p:nvPr/>
        </p:nvSpPr>
        <p:spPr>
          <a:xfrm rot="115020">
            <a:off x="3240319" y="7070474"/>
            <a:ext cx="569366" cy="0"/>
          </a:xfrm>
          <a:prstGeom prst="line">
            <a:avLst/>
          </a:prstGeom>
          <a:ln cap="rnd" w="19050">
            <a:solidFill>
              <a:srgbClr val="4AF56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7" id="77"/>
          <p:cNvSpPr/>
          <p:nvPr/>
        </p:nvSpPr>
        <p:spPr>
          <a:xfrm rot="115020">
            <a:off x="6090314" y="7070474"/>
            <a:ext cx="569366" cy="0"/>
          </a:xfrm>
          <a:prstGeom prst="line">
            <a:avLst/>
          </a:prstGeom>
          <a:ln cap="rnd" w="19050">
            <a:solidFill>
              <a:srgbClr val="4AF56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8" id="78"/>
          <p:cNvSpPr/>
          <p:nvPr/>
        </p:nvSpPr>
        <p:spPr>
          <a:xfrm rot="115020">
            <a:off x="8940317" y="7070474"/>
            <a:ext cx="569366" cy="0"/>
          </a:xfrm>
          <a:prstGeom prst="line">
            <a:avLst/>
          </a:prstGeom>
          <a:ln cap="rnd" w="19050">
            <a:solidFill>
              <a:srgbClr val="4AF56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9" id="79"/>
          <p:cNvSpPr/>
          <p:nvPr/>
        </p:nvSpPr>
        <p:spPr>
          <a:xfrm rot="115020">
            <a:off x="11790312" y="7070474"/>
            <a:ext cx="569366" cy="0"/>
          </a:xfrm>
          <a:prstGeom prst="line">
            <a:avLst/>
          </a:prstGeom>
          <a:ln cap="rnd" w="19050">
            <a:solidFill>
              <a:srgbClr val="4AF56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0" id="80"/>
          <p:cNvSpPr/>
          <p:nvPr/>
        </p:nvSpPr>
        <p:spPr>
          <a:xfrm rot="5357580">
            <a:off x="13277917" y="5027971"/>
            <a:ext cx="1544164" cy="0"/>
          </a:xfrm>
          <a:prstGeom prst="line">
            <a:avLst/>
          </a:prstGeom>
          <a:ln cap="rnd" w="19050">
            <a:solidFill>
              <a:srgbClr val="4AF5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1" id="81"/>
          <p:cNvSpPr/>
          <p:nvPr/>
        </p:nvSpPr>
        <p:spPr>
          <a:xfrm rot="10794540">
            <a:off x="2090471" y="5790476"/>
            <a:ext cx="11969067" cy="0"/>
          </a:xfrm>
          <a:prstGeom prst="line">
            <a:avLst/>
          </a:prstGeom>
          <a:ln cap="rnd" w="19050">
            <a:solidFill>
              <a:srgbClr val="4AF5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 rot="5306340">
            <a:off x="1750343" y="6130471"/>
            <a:ext cx="699306" cy="0"/>
          </a:xfrm>
          <a:prstGeom prst="line">
            <a:avLst/>
          </a:prstGeom>
          <a:ln cap="rnd" w="19050">
            <a:solidFill>
              <a:srgbClr val="4AF56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83" id="83"/>
          <p:cNvSpPr txBox="true"/>
          <p:nvPr/>
        </p:nvSpPr>
        <p:spPr>
          <a:xfrm rot="0">
            <a:off x="2300002" y="6059996"/>
            <a:ext cx="5999998" cy="27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4AF56D"/>
                </a:solidFill>
                <a:latin typeface="Verdana"/>
                <a:ea typeface="Verdana"/>
                <a:cs typeface="Verdana"/>
                <a:sym typeface="Verdana"/>
              </a:rPr>
              <a:t>Owner shares the passport link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489" y="8963"/>
            <a:ext cx="15925800" cy="8925487"/>
            <a:chOff x="0" y="0"/>
            <a:chExt cx="21234400" cy="119006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34400" cy="11900662"/>
            </a:xfrm>
            <a:custGeom>
              <a:avLst/>
              <a:gdLst/>
              <a:ahLst/>
              <a:cxnLst/>
              <a:rect r="r" b="b" t="t" l="l"/>
              <a:pathLst>
                <a:path h="11900662" w="21234400">
                  <a:moveTo>
                    <a:pt x="0" y="0"/>
                  </a:moveTo>
                  <a:lnTo>
                    <a:pt x="21234400" y="0"/>
                  </a:lnTo>
                  <a:lnTo>
                    <a:pt x="21234400" y="11900662"/>
                  </a:lnTo>
                  <a:lnTo>
                    <a:pt x="0" y="119006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" t="0" r="-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489" y="8963"/>
            <a:ext cx="15925800" cy="8925487"/>
            <a:chOff x="0" y="0"/>
            <a:chExt cx="21234400" cy="119006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234400" cy="11900662"/>
            </a:xfrm>
            <a:custGeom>
              <a:avLst/>
              <a:gdLst/>
              <a:ahLst/>
              <a:cxnLst/>
              <a:rect r="r" b="b" t="t" l="l"/>
              <a:pathLst>
                <a:path h="11900662" w="21234400">
                  <a:moveTo>
                    <a:pt x="0" y="0"/>
                  </a:moveTo>
                  <a:lnTo>
                    <a:pt x="21234400" y="0"/>
                  </a:lnTo>
                  <a:lnTo>
                    <a:pt x="21234400" y="11900662"/>
                  </a:lnTo>
                  <a:lnTo>
                    <a:pt x="0" y="119006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" t="0" r="-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206" y="1114015"/>
            <a:ext cx="15916275" cy="200025"/>
            <a:chOff x="0" y="0"/>
            <a:chExt cx="21221700" cy="266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21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1221700">
                  <a:moveTo>
                    <a:pt x="0" y="0"/>
                  </a:moveTo>
                  <a:lnTo>
                    <a:pt x="21221700" y="0"/>
                  </a:lnTo>
                  <a:lnTo>
                    <a:pt x="21221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9" t="0" r="-2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9206" y="2037140"/>
            <a:ext cx="3609975" cy="561975"/>
            <a:chOff x="0" y="0"/>
            <a:chExt cx="4813300" cy="749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3300" cy="749300"/>
            </a:xfrm>
            <a:custGeom>
              <a:avLst/>
              <a:gdLst/>
              <a:ahLst/>
              <a:cxnLst/>
              <a:rect r="r" b="b" t="t" l="l"/>
              <a:pathLst>
                <a:path h="749300" w="4813300">
                  <a:moveTo>
                    <a:pt x="0" y="0"/>
                  </a:moveTo>
                  <a:lnTo>
                    <a:pt x="4813300" y="0"/>
                  </a:lnTo>
                  <a:lnTo>
                    <a:pt x="4813300" y="749300"/>
                  </a:lnTo>
                  <a:lnTo>
                    <a:pt x="0" y="749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9206" y="8017116"/>
            <a:ext cx="15916275" cy="390525"/>
            <a:chOff x="0" y="0"/>
            <a:chExt cx="21221700" cy="520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221700" cy="520700"/>
            </a:xfrm>
            <a:custGeom>
              <a:avLst/>
              <a:gdLst/>
              <a:ahLst/>
              <a:cxnLst/>
              <a:rect r="r" b="b" t="t" l="l"/>
              <a:pathLst>
                <a:path h="520700" w="21221700">
                  <a:moveTo>
                    <a:pt x="0" y="0"/>
                  </a:moveTo>
                  <a:lnTo>
                    <a:pt x="21221700" y="0"/>
                  </a:lnTo>
                  <a:lnTo>
                    <a:pt x="21221700" y="520700"/>
                  </a:lnTo>
                  <a:lnTo>
                    <a:pt x="0" y="520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9" t="0" r="-29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64891" y="8207550"/>
            <a:ext cx="962025" cy="200025"/>
            <a:chOff x="0" y="0"/>
            <a:chExt cx="1282700" cy="2667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2700" cy="266700"/>
            </a:xfrm>
            <a:custGeom>
              <a:avLst/>
              <a:gdLst/>
              <a:ahLst/>
              <a:cxnLst/>
              <a:rect r="r" b="b" t="t" l="l"/>
              <a:pathLst>
                <a:path h="266700" w="1282700">
                  <a:moveTo>
                    <a:pt x="0" y="0"/>
                  </a:moveTo>
                  <a:lnTo>
                    <a:pt x="1282700" y="0"/>
                  </a:lnTo>
                  <a:lnTo>
                    <a:pt x="1282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42867" y="34623"/>
            <a:ext cx="1933575" cy="828675"/>
            <a:chOff x="0" y="0"/>
            <a:chExt cx="2578100" cy="11049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781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578100">
                  <a:moveTo>
                    <a:pt x="0" y="0"/>
                  </a:moveTo>
                  <a:lnTo>
                    <a:pt x="2578100" y="0"/>
                  </a:lnTo>
                  <a:lnTo>
                    <a:pt x="2578100" y="11049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0" y="27851"/>
            <a:ext cx="590550" cy="828675"/>
            <a:chOff x="0" y="0"/>
            <a:chExt cx="787400" cy="11049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874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787400">
                  <a:moveTo>
                    <a:pt x="0" y="0"/>
                  </a:moveTo>
                  <a:lnTo>
                    <a:pt x="787400" y="0"/>
                  </a:lnTo>
                  <a:lnTo>
                    <a:pt x="787400" y="11049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66" t="0" r="-467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064891" y="76724"/>
            <a:ext cx="1819275" cy="1038225"/>
            <a:chOff x="0" y="0"/>
            <a:chExt cx="2425700" cy="13843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25700" cy="1384300"/>
            </a:xfrm>
            <a:custGeom>
              <a:avLst/>
              <a:gdLst/>
              <a:ahLst/>
              <a:cxnLst/>
              <a:rect r="r" b="b" t="t" l="l"/>
              <a:pathLst>
                <a:path h="1384300" w="2425700">
                  <a:moveTo>
                    <a:pt x="0" y="0"/>
                  </a:moveTo>
                  <a:lnTo>
                    <a:pt x="2425700" y="0"/>
                  </a:lnTo>
                  <a:lnTo>
                    <a:pt x="2425700" y="1384300"/>
                  </a:lnTo>
                  <a:lnTo>
                    <a:pt x="0" y="138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65" r="0" b="-66"/>
              </a:stretch>
            </a:blipFill>
          </p:spPr>
        </p:sp>
      </p:grpSp>
      <p:sp>
        <p:nvSpPr>
          <p:cNvPr name="TextBox 20" id="20" descr="$PPTXTitle"/>
          <p:cNvSpPr txBox="true"/>
          <p:nvPr/>
        </p:nvSpPr>
        <p:spPr>
          <a:xfrm rot="0">
            <a:off x="748741" y="1247213"/>
            <a:ext cx="1158541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9"/>
              </a:lnSpc>
            </a:pPr>
            <a:r>
              <a:rPr lang="en-US" sz="4149" spc="349">
                <a:solidFill>
                  <a:srgbClr val="4AF56D"/>
                </a:solidFill>
                <a:latin typeface="Bank Gothic Light"/>
                <a:ea typeface="Bank Gothic Light"/>
                <a:cs typeface="Bank Gothic Light"/>
                <a:sym typeface="Bank Gothic Light"/>
              </a:rPr>
              <a:t>Implementation Roadmap &amp; scope</a:t>
            </a:r>
          </a:p>
          <a:p>
            <a:pPr algn="l">
              <a:lnSpc>
                <a:spcPts val="2340"/>
              </a:lnSpc>
            </a:pPr>
            <a:r>
              <a:rPr lang="en-US" sz="1950" spc="89">
                <a:solidFill>
                  <a:srgbClr val="FFFFFF"/>
                </a:solidFill>
                <a:latin typeface="Bank Gothic Light"/>
                <a:ea typeface="Bank Gothic Light"/>
                <a:cs typeface="Bank Gothic Light"/>
                <a:sym typeface="Bank Gothic Light"/>
              </a:rPr>
              <a:t>How the MVP gets built, and what comes after the hackathon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50564" y="2761612"/>
            <a:ext cx="2775461" cy="2501141"/>
            <a:chOff x="0" y="0"/>
            <a:chExt cx="3700615" cy="333485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700653" cy="3334893"/>
            </a:xfrm>
            <a:custGeom>
              <a:avLst/>
              <a:gdLst/>
              <a:ahLst/>
              <a:cxnLst/>
              <a:rect r="r" b="b" t="t" l="l"/>
              <a:pathLst>
                <a:path h="3334893" w="3700653">
                  <a:moveTo>
                    <a:pt x="0" y="555879"/>
                  </a:moveTo>
                  <a:cubicBezTo>
                    <a:pt x="0" y="248793"/>
                    <a:pt x="248793" y="0"/>
                    <a:pt x="555879" y="0"/>
                  </a:cubicBezTo>
                  <a:lnTo>
                    <a:pt x="3144774" y="0"/>
                  </a:lnTo>
                  <a:cubicBezTo>
                    <a:pt x="3451733" y="0"/>
                    <a:pt x="3700653" y="248793"/>
                    <a:pt x="3700653" y="555879"/>
                  </a:cubicBezTo>
                  <a:lnTo>
                    <a:pt x="3700653" y="2779014"/>
                  </a:lnTo>
                  <a:cubicBezTo>
                    <a:pt x="3700653" y="3085973"/>
                    <a:pt x="3451860" y="3334893"/>
                    <a:pt x="3144774" y="3334893"/>
                  </a:cubicBezTo>
                  <a:lnTo>
                    <a:pt x="555879" y="3334893"/>
                  </a:lnTo>
                  <a:cubicBezTo>
                    <a:pt x="248793" y="3334893"/>
                    <a:pt x="0" y="3085973"/>
                    <a:pt x="0" y="2779014"/>
                  </a:cubicBezTo>
                  <a:close/>
                </a:path>
              </a:pathLst>
            </a:custGeom>
            <a:solidFill>
              <a:srgbClr val="03180B"/>
            </a:solidFill>
            <a:ln w="13970" cap="sq">
              <a:solidFill>
                <a:srgbClr val="4AF56D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065205" y="2914517"/>
            <a:ext cx="174617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4AF56D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FOUNDATION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2994" y="3445250"/>
            <a:ext cx="2450592" cy="166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CCABE"/>
                </a:solidFill>
                <a:latin typeface="Verdana"/>
                <a:ea typeface="Verdana"/>
                <a:cs typeface="Verdana"/>
                <a:sym typeface="Verdana"/>
              </a:rPr>
              <a:t>Defining MVP scope, schema and skill taxonomy; Building the UI shell, Database and a Sample Repository.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558940" y="2761612"/>
            <a:ext cx="2775461" cy="2501141"/>
            <a:chOff x="0" y="0"/>
            <a:chExt cx="3700615" cy="333485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700653" cy="3334893"/>
            </a:xfrm>
            <a:custGeom>
              <a:avLst/>
              <a:gdLst/>
              <a:ahLst/>
              <a:cxnLst/>
              <a:rect r="r" b="b" t="t" l="l"/>
              <a:pathLst>
                <a:path h="3334893" w="3700653">
                  <a:moveTo>
                    <a:pt x="0" y="555879"/>
                  </a:moveTo>
                  <a:cubicBezTo>
                    <a:pt x="0" y="248793"/>
                    <a:pt x="248793" y="0"/>
                    <a:pt x="555879" y="0"/>
                  </a:cubicBezTo>
                  <a:lnTo>
                    <a:pt x="3144774" y="0"/>
                  </a:lnTo>
                  <a:cubicBezTo>
                    <a:pt x="3451733" y="0"/>
                    <a:pt x="3700653" y="248793"/>
                    <a:pt x="3700653" y="555879"/>
                  </a:cubicBezTo>
                  <a:lnTo>
                    <a:pt x="3700653" y="2779014"/>
                  </a:lnTo>
                  <a:cubicBezTo>
                    <a:pt x="3700653" y="3085973"/>
                    <a:pt x="3451860" y="3334893"/>
                    <a:pt x="3144774" y="3334893"/>
                  </a:cubicBezTo>
                  <a:lnTo>
                    <a:pt x="555879" y="3334893"/>
                  </a:lnTo>
                  <a:cubicBezTo>
                    <a:pt x="248793" y="3334893"/>
                    <a:pt x="0" y="3085973"/>
                    <a:pt x="0" y="2779014"/>
                  </a:cubicBezTo>
                  <a:close/>
                </a:path>
              </a:pathLst>
            </a:custGeom>
            <a:solidFill>
              <a:srgbClr val="03180B"/>
            </a:solidFill>
            <a:ln w="13970" cap="sq">
              <a:solidFill>
                <a:srgbClr val="4AF56D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4211931" y="2914517"/>
            <a:ext cx="146946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4AF56D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INGESTION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721370" y="3445250"/>
            <a:ext cx="2450592" cy="1385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CCABE"/>
                </a:solidFill>
                <a:latin typeface="Verdana"/>
                <a:ea typeface="Verdana"/>
                <a:cs typeface="Verdana"/>
                <a:sym typeface="Verdana"/>
              </a:rPr>
              <a:t>Fetching README and selected source files, parsing resume text and keep source locations.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567316" y="2761612"/>
            <a:ext cx="2775461" cy="2501141"/>
            <a:chOff x="0" y="0"/>
            <a:chExt cx="3700615" cy="333485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700653" cy="3334893"/>
            </a:xfrm>
            <a:custGeom>
              <a:avLst/>
              <a:gdLst/>
              <a:ahLst/>
              <a:cxnLst/>
              <a:rect r="r" b="b" t="t" l="l"/>
              <a:pathLst>
                <a:path h="3334893" w="3700653">
                  <a:moveTo>
                    <a:pt x="0" y="555879"/>
                  </a:moveTo>
                  <a:cubicBezTo>
                    <a:pt x="0" y="248793"/>
                    <a:pt x="248793" y="0"/>
                    <a:pt x="555879" y="0"/>
                  </a:cubicBezTo>
                  <a:lnTo>
                    <a:pt x="3144774" y="0"/>
                  </a:lnTo>
                  <a:cubicBezTo>
                    <a:pt x="3451733" y="0"/>
                    <a:pt x="3700653" y="248793"/>
                    <a:pt x="3700653" y="555879"/>
                  </a:cubicBezTo>
                  <a:lnTo>
                    <a:pt x="3700653" y="2779014"/>
                  </a:lnTo>
                  <a:cubicBezTo>
                    <a:pt x="3700653" y="3085973"/>
                    <a:pt x="3451860" y="3334893"/>
                    <a:pt x="3144774" y="3334893"/>
                  </a:cubicBezTo>
                  <a:lnTo>
                    <a:pt x="555879" y="3334893"/>
                  </a:lnTo>
                  <a:cubicBezTo>
                    <a:pt x="248793" y="3334893"/>
                    <a:pt x="0" y="3085973"/>
                    <a:pt x="0" y="2779014"/>
                  </a:cubicBezTo>
                  <a:close/>
                </a:path>
              </a:pathLst>
            </a:custGeom>
            <a:solidFill>
              <a:srgbClr val="03180B"/>
            </a:solidFill>
            <a:ln w="13970" cap="sq">
              <a:solidFill>
                <a:srgbClr val="4AF56D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6970990" y="2915355"/>
            <a:ext cx="196810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4AF56D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AI + EVIDENCE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729746" y="3283887"/>
            <a:ext cx="2697480" cy="1634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2"/>
              </a:lnSpc>
            </a:pPr>
            <a:r>
              <a:rPr lang="en-US" sz="1760">
                <a:solidFill>
                  <a:srgbClr val="BCCABE"/>
                </a:solidFill>
                <a:latin typeface="Verdana"/>
                <a:ea typeface="Verdana"/>
                <a:cs typeface="Verdana"/>
                <a:sym typeface="Verdana"/>
              </a:rPr>
              <a:t>Extraction of skills with structured output; Implementing validation evidence in code and reject unsupported claims.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575692" y="2761612"/>
            <a:ext cx="2775461" cy="2501141"/>
            <a:chOff x="0" y="0"/>
            <a:chExt cx="3700615" cy="333485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700653" cy="3334893"/>
            </a:xfrm>
            <a:custGeom>
              <a:avLst/>
              <a:gdLst/>
              <a:ahLst/>
              <a:cxnLst/>
              <a:rect r="r" b="b" t="t" l="l"/>
              <a:pathLst>
                <a:path h="3334893" w="3700653">
                  <a:moveTo>
                    <a:pt x="0" y="555879"/>
                  </a:moveTo>
                  <a:cubicBezTo>
                    <a:pt x="0" y="248793"/>
                    <a:pt x="248793" y="0"/>
                    <a:pt x="555879" y="0"/>
                  </a:cubicBezTo>
                  <a:lnTo>
                    <a:pt x="3144774" y="0"/>
                  </a:lnTo>
                  <a:cubicBezTo>
                    <a:pt x="3451733" y="0"/>
                    <a:pt x="3700653" y="248793"/>
                    <a:pt x="3700653" y="555879"/>
                  </a:cubicBezTo>
                  <a:lnTo>
                    <a:pt x="3700653" y="2779014"/>
                  </a:lnTo>
                  <a:cubicBezTo>
                    <a:pt x="3700653" y="3085973"/>
                    <a:pt x="3451860" y="3334893"/>
                    <a:pt x="3144774" y="3334893"/>
                  </a:cubicBezTo>
                  <a:lnTo>
                    <a:pt x="555879" y="3334893"/>
                  </a:lnTo>
                  <a:cubicBezTo>
                    <a:pt x="248793" y="3334893"/>
                    <a:pt x="0" y="3085973"/>
                    <a:pt x="0" y="2779014"/>
                  </a:cubicBezTo>
                  <a:close/>
                </a:path>
              </a:pathLst>
            </a:custGeom>
            <a:solidFill>
              <a:srgbClr val="03180B"/>
            </a:solidFill>
            <a:ln w="13970" cap="sq">
              <a:solidFill>
                <a:srgbClr val="4AF56D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9832265" y="2914517"/>
            <a:ext cx="226230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4AF56D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PRODUCT FLOWS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38122" y="3445250"/>
            <a:ext cx="2450592" cy="1385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CCABE"/>
                </a:solidFill>
                <a:latin typeface="Verdana"/>
                <a:ea typeface="Verdana"/>
                <a:cs typeface="Verdana"/>
                <a:sym typeface="Verdana"/>
              </a:rPr>
              <a:t>Build passport, evidence viewer, role matcher, gap analysis and learning-plan view.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2584068" y="2761612"/>
            <a:ext cx="2775461" cy="2501141"/>
            <a:chOff x="0" y="0"/>
            <a:chExt cx="3700615" cy="333485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700653" cy="3334893"/>
            </a:xfrm>
            <a:custGeom>
              <a:avLst/>
              <a:gdLst/>
              <a:ahLst/>
              <a:cxnLst/>
              <a:rect r="r" b="b" t="t" l="l"/>
              <a:pathLst>
                <a:path h="3334893" w="3700653">
                  <a:moveTo>
                    <a:pt x="0" y="555879"/>
                  </a:moveTo>
                  <a:cubicBezTo>
                    <a:pt x="0" y="248793"/>
                    <a:pt x="248793" y="0"/>
                    <a:pt x="555879" y="0"/>
                  </a:cubicBezTo>
                  <a:lnTo>
                    <a:pt x="3144774" y="0"/>
                  </a:lnTo>
                  <a:cubicBezTo>
                    <a:pt x="3451733" y="0"/>
                    <a:pt x="3700653" y="248793"/>
                    <a:pt x="3700653" y="555879"/>
                  </a:cubicBezTo>
                  <a:lnTo>
                    <a:pt x="3700653" y="2779014"/>
                  </a:lnTo>
                  <a:cubicBezTo>
                    <a:pt x="3700653" y="3085973"/>
                    <a:pt x="3451860" y="3334893"/>
                    <a:pt x="3144774" y="3334893"/>
                  </a:cubicBezTo>
                  <a:lnTo>
                    <a:pt x="555879" y="3334893"/>
                  </a:lnTo>
                  <a:cubicBezTo>
                    <a:pt x="248793" y="3334893"/>
                    <a:pt x="0" y="3085973"/>
                    <a:pt x="0" y="2779014"/>
                  </a:cubicBezTo>
                  <a:close/>
                </a:path>
              </a:pathLst>
            </a:custGeom>
            <a:solidFill>
              <a:srgbClr val="03180B"/>
            </a:solidFill>
            <a:ln w="13970" cap="sq">
              <a:solidFill>
                <a:srgbClr val="4AF56D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12843379" y="2914517"/>
            <a:ext cx="225683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4AF56D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QUALITY + DEMO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746498" y="3445250"/>
            <a:ext cx="2450592" cy="1385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CCABE"/>
                </a:solidFill>
                <a:latin typeface="Verdana"/>
                <a:ea typeface="Verdana"/>
                <a:cs typeface="Verdana"/>
                <a:sym typeface="Verdana"/>
              </a:rPr>
              <a:t>Test reliability, security and responsive design, deploy and rehearse with sample data.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577682" y="5830491"/>
            <a:ext cx="7073770" cy="1982467"/>
            <a:chOff x="0" y="0"/>
            <a:chExt cx="9431693" cy="264328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431655" cy="2643251"/>
            </a:xfrm>
            <a:custGeom>
              <a:avLst/>
              <a:gdLst/>
              <a:ahLst/>
              <a:cxnLst/>
              <a:rect r="r" b="b" t="t" l="l"/>
              <a:pathLst>
                <a:path h="2643251" w="9431655">
                  <a:moveTo>
                    <a:pt x="0" y="440563"/>
                  </a:moveTo>
                  <a:cubicBezTo>
                    <a:pt x="0" y="197231"/>
                    <a:pt x="197231" y="0"/>
                    <a:pt x="440563" y="0"/>
                  </a:cubicBezTo>
                  <a:lnTo>
                    <a:pt x="8991092" y="0"/>
                  </a:lnTo>
                  <a:cubicBezTo>
                    <a:pt x="9234424" y="0"/>
                    <a:pt x="9431655" y="197231"/>
                    <a:pt x="9431655" y="440563"/>
                  </a:cubicBezTo>
                  <a:lnTo>
                    <a:pt x="9431655" y="2202688"/>
                  </a:lnTo>
                  <a:cubicBezTo>
                    <a:pt x="9431655" y="2446020"/>
                    <a:pt x="9234424" y="2643251"/>
                    <a:pt x="8991092" y="2643251"/>
                  </a:cubicBezTo>
                  <a:lnTo>
                    <a:pt x="440563" y="2643251"/>
                  </a:lnTo>
                  <a:cubicBezTo>
                    <a:pt x="197231" y="2643251"/>
                    <a:pt x="0" y="2446020"/>
                    <a:pt x="0" y="2202688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758714" y="6054366"/>
            <a:ext cx="304978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4AF56D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HACKATHON MVP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58714" y="6702923"/>
            <a:ext cx="6711696" cy="83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5F8F5"/>
                </a:solidFill>
                <a:latin typeface="Verdana"/>
                <a:ea typeface="Verdana"/>
                <a:cs typeface="Verdana"/>
                <a:sym typeface="Verdana"/>
              </a:rPr>
              <a:t>One public repo + one resume→ evidence-backed passport, traceable claims, job requirement gaps and a starter learning plan.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7947746" y="5830481"/>
            <a:ext cx="7073770" cy="1982467"/>
            <a:chOff x="0" y="0"/>
            <a:chExt cx="9431693" cy="264328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431655" cy="2643251"/>
            </a:xfrm>
            <a:custGeom>
              <a:avLst/>
              <a:gdLst/>
              <a:ahLst/>
              <a:cxnLst/>
              <a:rect r="r" b="b" t="t" l="l"/>
              <a:pathLst>
                <a:path h="2643251" w="9431655">
                  <a:moveTo>
                    <a:pt x="0" y="440563"/>
                  </a:moveTo>
                  <a:cubicBezTo>
                    <a:pt x="0" y="197231"/>
                    <a:pt x="197231" y="0"/>
                    <a:pt x="440563" y="0"/>
                  </a:cubicBezTo>
                  <a:lnTo>
                    <a:pt x="8991092" y="0"/>
                  </a:lnTo>
                  <a:cubicBezTo>
                    <a:pt x="9234424" y="0"/>
                    <a:pt x="9431655" y="197231"/>
                    <a:pt x="9431655" y="440563"/>
                  </a:cubicBezTo>
                  <a:lnTo>
                    <a:pt x="9431655" y="2202688"/>
                  </a:lnTo>
                  <a:cubicBezTo>
                    <a:pt x="9431655" y="2446020"/>
                    <a:pt x="9234424" y="2643251"/>
                    <a:pt x="8991092" y="2643251"/>
                  </a:cubicBezTo>
                  <a:lnTo>
                    <a:pt x="440563" y="2643251"/>
                  </a:lnTo>
                  <a:cubicBezTo>
                    <a:pt x="197231" y="2643251"/>
                    <a:pt x="0" y="2446020"/>
                    <a:pt x="0" y="2202688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</p:grpSp>
      <p:sp>
        <p:nvSpPr>
          <p:cNvPr name="TextBox 47" id="47"/>
          <p:cNvSpPr txBox="true"/>
          <p:nvPr/>
        </p:nvSpPr>
        <p:spPr>
          <a:xfrm rot="0">
            <a:off x="8128778" y="6085122"/>
            <a:ext cx="460795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4AF56D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BEYOND THE HACKATHON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128778" y="6707305"/>
            <a:ext cx="6711696" cy="83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5F8F5"/>
                </a:solidFill>
                <a:latin typeface="Verdana"/>
                <a:ea typeface="Verdana"/>
                <a:cs typeface="Verdana"/>
                <a:sym typeface="Verdana"/>
              </a:rPr>
              <a:t>GitHub OAuth, multiple repositories, GitLab, certificate integrations, evidence freshness checks and placement-cell dashboards.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489" y="8963"/>
            <a:ext cx="15925800" cy="8925487"/>
            <a:chOff x="0" y="0"/>
            <a:chExt cx="21234400" cy="119006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34400" cy="11900662"/>
            </a:xfrm>
            <a:custGeom>
              <a:avLst/>
              <a:gdLst/>
              <a:ahLst/>
              <a:cxnLst/>
              <a:rect r="r" b="b" t="t" l="l"/>
              <a:pathLst>
                <a:path h="11900662" w="21234400">
                  <a:moveTo>
                    <a:pt x="0" y="0"/>
                  </a:moveTo>
                  <a:lnTo>
                    <a:pt x="21234400" y="0"/>
                  </a:lnTo>
                  <a:lnTo>
                    <a:pt x="21234400" y="11900662"/>
                  </a:lnTo>
                  <a:lnTo>
                    <a:pt x="0" y="119006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" t="0" r="-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9206" y="1114015"/>
            <a:ext cx="15916275" cy="200025"/>
            <a:chOff x="0" y="0"/>
            <a:chExt cx="21221700" cy="266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221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1221700">
                  <a:moveTo>
                    <a:pt x="0" y="0"/>
                  </a:moveTo>
                  <a:lnTo>
                    <a:pt x="21221700" y="0"/>
                  </a:lnTo>
                  <a:lnTo>
                    <a:pt x="21221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9" t="0" r="-2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0907" y="1929336"/>
            <a:ext cx="3609975" cy="561975"/>
            <a:chOff x="0" y="0"/>
            <a:chExt cx="4813300" cy="749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3300" cy="749300"/>
            </a:xfrm>
            <a:custGeom>
              <a:avLst/>
              <a:gdLst/>
              <a:ahLst/>
              <a:cxnLst/>
              <a:rect r="r" b="b" t="t" l="l"/>
              <a:pathLst>
                <a:path h="749300" w="4813300">
                  <a:moveTo>
                    <a:pt x="0" y="0"/>
                  </a:moveTo>
                  <a:lnTo>
                    <a:pt x="4813300" y="0"/>
                  </a:lnTo>
                  <a:lnTo>
                    <a:pt x="4813300" y="749300"/>
                  </a:lnTo>
                  <a:lnTo>
                    <a:pt x="0" y="749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9206" y="8017116"/>
            <a:ext cx="15916275" cy="390525"/>
            <a:chOff x="0" y="0"/>
            <a:chExt cx="21221700" cy="520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221700" cy="520700"/>
            </a:xfrm>
            <a:custGeom>
              <a:avLst/>
              <a:gdLst/>
              <a:ahLst/>
              <a:cxnLst/>
              <a:rect r="r" b="b" t="t" l="l"/>
              <a:pathLst>
                <a:path h="520700" w="21221700">
                  <a:moveTo>
                    <a:pt x="0" y="0"/>
                  </a:moveTo>
                  <a:lnTo>
                    <a:pt x="21221700" y="0"/>
                  </a:lnTo>
                  <a:lnTo>
                    <a:pt x="21221700" y="520700"/>
                  </a:lnTo>
                  <a:lnTo>
                    <a:pt x="0" y="520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9" t="0" r="-29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64891" y="8207550"/>
            <a:ext cx="962025" cy="200025"/>
            <a:chOff x="0" y="0"/>
            <a:chExt cx="1282700" cy="266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2700" cy="266700"/>
            </a:xfrm>
            <a:custGeom>
              <a:avLst/>
              <a:gdLst/>
              <a:ahLst/>
              <a:cxnLst/>
              <a:rect r="r" b="b" t="t" l="l"/>
              <a:pathLst>
                <a:path h="266700" w="1282700">
                  <a:moveTo>
                    <a:pt x="0" y="0"/>
                  </a:moveTo>
                  <a:lnTo>
                    <a:pt x="1282700" y="0"/>
                  </a:lnTo>
                  <a:lnTo>
                    <a:pt x="1282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2" id="12" descr="$PPTXTitle"/>
          <p:cNvSpPr txBox="true"/>
          <p:nvPr/>
        </p:nvSpPr>
        <p:spPr>
          <a:xfrm rot="0">
            <a:off x="880748" y="1086555"/>
            <a:ext cx="983361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9"/>
              </a:lnSpc>
            </a:pPr>
            <a:r>
              <a:rPr lang="en-US" sz="4149" spc="359">
                <a:solidFill>
                  <a:srgbClr val="4AF56D"/>
                </a:solidFill>
                <a:latin typeface="Bank Gothic Light"/>
                <a:ea typeface="Bank Gothic Light"/>
                <a:cs typeface="Bank Gothic Light"/>
                <a:sym typeface="Bank Gothic Light"/>
              </a:rPr>
              <a:t>Expected Impact &amp; scalability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42867" y="34623"/>
            <a:ext cx="1933575" cy="828675"/>
            <a:chOff x="0" y="0"/>
            <a:chExt cx="2578100" cy="11049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781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578100">
                  <a:moveTo>
                    <a:pt x="0" y="0"/>
                  </a:moveTo>
                  <a:lnTo>
                    <a:pt x="2578100" y="0"/>
                  </a:lnTo>
                  <a:lnTo>
                    <a:pt x="2578100" y="11049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0" y="27851"/>
            <a:ext cx="590550" cy="828675"/>
            <a:chOff x="0" y="0"/>
            <a:chExt cx="787400" cy="11049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874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787400">
                  <a:moveTo>
                    <a:pt x="0" y="0"/>
                  </a:moveTo>
                  <a:lnTo>
                    <a:pt x="787400" y="0"/>
                  </a:lnTo>
                  <a:lnTo>
                    <a:pt x="787400" y="11049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66" t="0" r="-467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064891" y="76724"/>
            <a:ext cx="1819275" cy="1038225"/>
            <a:chOff x="0" y="0"/>
            <a:chExt cx="2425700" cy="13843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25700" cy="1384300"/>
            </a:xfrm>
            <a:custGeom>
              <a:avLst/>
              <a:gdLst/>
              <a:ahLst/>
              <a:cxnLst/>
              <a:rect r="r" b="b" t="t" l="l"/>
              <a:pathLst>
                <a:path h="1384300" w="2425700">
                  <a:moveTo>
                    <a:pt x="0" y="0"/>
                  </a:moveTo>
                  <a:lnTo>
                    <a:pt x="2425700" y="0"/>
                  </a:lnTo>
                  <a:lnTo>
                    <a:pt x="2425700" y="1384300"/>
                  </a:lnTo>
                  <a:lnTo>
                    <a:pt x="0" y="138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65" r="0" b="-66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81043" y="1875387"/>
            <a:ext cx="11054715" cy="326393"/>
            <a:chOff x="0" y="0"/>
            <a:chExt cx="14739620" cy="4351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739620" cy="435187"/>
            </a:xfrm>
            <a:custGeom>
              <a:avLst/>
              <a:gdLst/>
              <a:ahLst/>
              <a:cxnLst/>
              <a:rect r="r" b="b" t="t" l="l"/>
              <a:pathLst>
                <a:path h="435187" w="14739620">
                  <a:moveTo>
                    <a:pt x="0" y="0"/>
                  </a:moveTo>
                  <a:lnTo>
                    <a:pt x="14739620" y="0"/>
                  </a:lnTo>
                  <a:lnTo>
                    <a:pt x="14739620" y="435187"/>
                  </a:lnTo>
                  <a:lnTo>
                    <a:pt x="0" y="43518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609950" r="0" b="-60995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4739620" cy="4447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20"/>
                </a:lnSpc>
              </a:pPr>
              <a:r>
                <a:rPr lang="en-US" sz="1850">
                  <a:solidFill>
                    <a:srgbClr val="F5F8F5"/>
                  </a:solidFill>
                  <a:latin typeface="Verdana"/>
                  <a:ea typeface="Verdana"/>
                  <a:cs typeface="Verdana"/>
                  <a:sym typeface="Verdana"/>
                </a:rPr>
                <a:t>Portable, evidence-backed skills for students, recruiters and college placement cells.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52275" y="2940148"/>
            <a:ext cx="4632322" cy="1953130"/>
            <a:chOff x="0" y="0"/>
            <a:chExt cx="6176429" cy="260417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176518" cy="2604262"/>
            </a:xfrm>
            <a:custGeom>
              <a:avLst/>
              <a:gdLst/>
              <a:ahLst/>
              <a:cxnLst/>
              <a:rect r="r" b="b" t="t" l="l"/>
              <a:pathLst>
                <a:path h="2604262" w="6176518">
                  <a:moveTo>
                    <a:pt x="0" y="434086"/>
                  </a:moveTo>
                  <a:cubicBezTo>
                    <a:pt x="0" y="194310"/>
                    <a:pt x="194310" y="0"/>
                    <a:pt x="434086" y="0"/>
                  </a:cubicBezTo>
                  <a:lnTo>
                    <a:pt x="5742432" y="0"/>
                  </a:lnTo>
                  <a:cubicBezTo>
                    <a:pt x="5982208" y="0"/>
                    <a:pt x="6176518" y="194310"/>
                    <a:pt x="6176518" y="434086"/>
                  </a:cubicBezTo>
                  <a:lnTo>
                    <a:pt x="6176518" y="2170176"/>
                  </a:lnTo>
                  <a:cubicBezTo>
                    <a:pt x="6176518" y="2409952"/>
                    <a:pt x="5982208" y="2604262"/>
                    <a:pt x="5742432" y="2604262"/>
                  </a:cubicBezTo>
                  <a:lnTo>
                    <a:pt x="434086" y="2604262"/>
                  </a:lnTo>
                  <a:cubicBezTo>
                    <a:pt x="194310" y="2604135"/>
                    <a:pt x="0" y="2409825"/>
                    <a:pt x="0" y="2170176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933317" y="3075089"/>
            <a:ext cx="4466511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4AF56D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STUDENTS &amp; JOB SEEKERS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3317" y="3532670"/>
            <a:ext cx="4270248" cy="110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5F8F5"/>
                </a:solidFill>
                <a:latin typeface="Verdana"/>
                <a:ea typeface="Verdana"/>
                <a:cs typeface="Verdana"/>
                <a:sym typeface="Verdana"/>
              </a:rPr>
              <a:t>Turn projects into a credible portfolio, understand skill gaps and focus learning on evidence they can build.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671747" y="2940148"/>
            <a:ext cx="4632322" cy="1953130"/>
            <a:chOff x="0" y="0"/>
            <a:chExt cx="6176429" cy="260417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176518" cy="2604262"/>
            </a:xfrm>
            <a:custGeom>
              <a:avLst/>
              <a:gdLst/>
              <a:ahLst/>
              <a:cxnLst/>
              <a:rect r="r" b="b" t="t" l="l"/>
              <a:pathLst>
                <a:path h="2604262" w="6176518">
                  <a:moveTo>
                    <a:pt x="0" y="434086"/>
                  </a:moveTo>
                  <a:cubicBezTo>
                    <a:pt x="0" y="194310"/>
                    <a:pt x="194310" y="0"/>
                    <a:pt x="434086" y="0"/>
                  </a:cubicBezTo>
                  <a:lnTo>
                    <a:pt x="5742432" y="0"/>
                  </a:lnTo>
                  <a:cubicBezTo>
                    <a:pt x="5982208" y="0"/>
                    <a:pt x="6176518" y="194310"/>
                    <a:pt x="6176518" y="434086"/>
                  </a:cubicBezTo>
                  <a:lnTo>
                    <a:pt x="6176518" y="2170176"/>
                  </a:lnTo>
                  <a:cubicBezTo>
                    <a:pt x="6176518" y="2409952"/>
                    <a:pt x="5982208" y="2604262"/>
                    <a:pt x="5742432" y="2604262"/>
                  </a:cubicBezTo>
                  <a:lnTo>
                    <a:pt x="434086" y="2604262"/>
                  </a:lnTo>
                  <a:cubicBezTo>
                    <a:pt x="194310" y="2604135"/>
                    <a:pt x="0" y="2409825"/>
                    <a:pt x="0" y="2170176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5852789" y="3075089"/>
            <a:ext cx="234279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4AF56D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RECRUITERS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852789" y="3532670"/>
            <a:ext cx="4270248" cy="110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5F8F5"/>
                </a:solidFill>
                <a:latin typeface="Verdana"/>
                <a:ea typeface="Verdana"/>
                <a:cs typeface="Verdana"/>
                <a:sym typeface="Verdana"/>
              </a:rPr>
              <a:t>Inspect proof behind a skill claim, compare applicants against a role and reduce dependence on keyword-only résumés.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591219" y="2940148"/>
            <a:ext cx="4632322" cy="1953130"/>
            <a:chOff x="0" y="0"/>
            <a:chExt cx="6176429" cy="260417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176518" cy="2604262"/>
            </a:xfrm>
            <a:custGeom>
              <a:avLst/>
              <a:gdLst/>
              <a:ahLst/>
              <a:cxnLst/>
              <a:rect r="r" b="b" t="t" l="l"/>
              <a:pathLst>
                <a:path h="2604262" w="6176518">
                  <a:moveTo>
                    <a:pt x="0" y="434086"/>
                  </a:moveTo>
                  <a:cubicBezTo>
                    <a:pt x="0" y="194310"/>
                    <a:pt x="194310" y="0"/>
                    <a:pt x="434086" y="0"/>
                  </a:cubicBezTo>
                  <a:lnTo>
                    <a:pt x="5742432" y="0"/>
                  </a:lnTo>
                  <a:cubicBezTo>
                    <a:pt x="5982208" y="0"/>
                    <a:pt x="6176518" y="194310"/>
                    <a:pt x="6176518" y="434086"/>
                  </a:cubicBezTo>
                  <a:lnTo>
                    <a:pt x="6176518" y="2170176"/>
                  </a:lnTo>
                  <a:cubicBezTo>
                    <a:pt x="6176518" y="2409952"/>
                    <a:pt x="5982208" y="2604262"/>
                    <a:pt x="5742432" y="2604262"/>
                  </a:cubicBezTo>
                  <a:lnTo>
                    <a:pt x="434086" y="2604262"/>
                  </a:lnTo>
                  <a:cubicBezTo>
                    <a:pt x="194310" y="2604135"/>
                    <a:pt x="0" y="2409825"/>
                    <a:pt x="0" y="2170176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0772261" y="3075089"/>
            <a:ext cx="350662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4AF56D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PLACEMENT CELLS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772261" y="3532670"/>
            <a:ext cx="4270248" cy="110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5F8F5"/>
                </a:solidFill>
                <a:latin typeface="Verdana"/>
                <a:ea typeface="Verdana"/>
                <a:cs typeface="Verdana"/>
                <a:sym typeface="Verdana"/>
              </a:rPr>
              <a:t>Spot cohort-level skill gaps and guide students toward practical projects and better-prepared applications.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42867" y="5053708"/>
            <a:ext cx="328660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4AF56D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SCALABILITY PATH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52275" y="5628484"/>
            <a:ext cx="4385434" cy="1355207"/>
            <a:chOff x="0" y="0"/>
            <a:chExt cx="5847245" cy="180694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847207" cy="1806829"/>
            </a:xfrm>
            <a:custGeom>
              <a:avLst/>
              <a:gdLst/>
              <a:ahLst/>
              <a:cxnLst/>
              <a:rect r="r" b="b" t="t" l="l"/>
              <a:pathLst>
                <a:path h="1806829" w="5847207">
                  <a:moveTo>
                    <a:pt x="0" y="301117"/>
                  </a:moveTo>
                  <a:cubicBezTo>
                    <a:pt x="0" y="134874"/>
                    <a:pt x="134874" y="0"/>
                    <a:pt x="301117" y="0"/>
                  </a:cubicBezTo>
                  <a:lnTo>
                    <a:pt x="5546090" y="0"/>
                  </a:lnTo>
                  <a:cubicBezTo>
                    <a:pt x="5712460" y="0"/>
                    <a:pt x="5847207" y="134874"/>
                    <a:pt x="5847207" y="301117"/>
                  </a:cubicBezTo>
                  <a:lnTo>
                    <a:pt x="5847207" y="1505712"/>
                  </a:lnTo>
                  <a:cubicBezTo>
                    <a:pt x="5847207" y="1672082"/>
                    <a:pt x="5712333" y="1806829"/>
                    <a:pt x="5546090" y="1806829"/>
                  </a:cubicBezTo>
                  <a:lnTo>
                    <a:pt x="301117" y="1806829"/>
                  </a:lnTo>
                  <a:cubicBezTo>
                    <a:pt x="134874" y="1806956"/>
                    <a:pt x="0" y="1672082"/>
                    <a:pt x="0" y="1505839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933317" y="5763425"/>
            <a:ext cx="123729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4AF56D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1  MVP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33317" y="6221006"/>
            <a:ext cx="4023360" cy="554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5F8F5"/>
                </a:solidFill>
                <a:latin typeface="Verdana"/>
                <a:ea typeface="Verdana"/>
                <a:cs typeface="Verdana"/>
                <a:sym typeface="Verdana"/>
              </a:rPr>
              <a:t>One repo + one résumé; personal passport.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5176133" y="6047642"/>
            <a:ext cx="347472" cy="329184"/>
            <a:chOff x="0" y="0"/>
            <a:chExt cx="463296" cy="43891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63296" cy="438912"/>
            </a:xfrm>
            <a:custGeom>
              <a:avLst/>
              <a:gdLst/>
              <a:ahLst/>
              <a:cxnLst/>
              <a:rect r="r" b="b" t="t" l="l"/>
              <a:pathLst>
                <a:path h="438912" w="463296">
                  <a:moveTo>
                    <a:pt x="0" y="0"/>
                  </a:moveTo>
                  <a:lnTo>
                    <a:pt x="463296" y="0"/>
                  </a:lnTo>
                  <a:lnTo>
                    <a:pt x="46329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71550" t="0" r="-71550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463296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4AF56D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→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562019" y="5628484"/>
            <a:ext cx="4385434" cy="1355207"/>
            <a:chOff x="0" y="0"/>
            <a:chExt cx="5847245" cy="180694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847207" cy="1806829"/>
            </a:xfrm>
            <a:custGeom>
              <a:avLst/>
              <a:gdLst/>
              <a:ahLst/>
              <a:cxnLst/>
              <a:rect r="r" b="b" t="t" l="l"/>
              <a:pathLst>
                <a:path h="1806829" w="5847207">
                  <a:moveTo>
                    <a:pt x="0" y="301117"/>
                  </a:moveTo>
                  <a:cubicBezTo>
                    <a:pt x="0" y="134874"/>
                    <a:pt x="134874" y="0"/>
                    <a:pt x="301117" y="0"/>
                  </a:cubicBezTo>
                  <a:lnTo>
                    <a:pt x="5546090" y="0"/>
                  </a:lnTo>
                  <a:cubicBezTo>
                    <a:pt x="5712460" y="0"/>
                    <a:pt x="5847207" y="134874"/>
                    <a:pt x="5847207" y="301117"/>
                  </a:cubicBezTo>
                  <a:lnTo>
                    <a:pt x="5847207" y="1505712"/>
                  </a:lnTo>
                  <a:cubicBezTo>
                    <a:pt x="5847207" y="1672082"/>
                    <a:pt x="5712333" y="1806829"/>
                    <a:pt x="5546090" y="1806829"/>
                  </a:cubicBezTo>
                  <a:lnTo>
                    <a:pt x="301117" y="1806829"/>
                  </a:lnTo>
                  <a:cubicBezTo>
                    <a:pt x="134874" y="1806956"/>
                    <a:pt x="0" y="1672082"/>
                    <a:pt x="0" y="1505839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5743061" y="5763425"/>
            <a:ext cx="154305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4AF56D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2  PILOT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743061" y="6221006"/>
            <a:ext cx="4023360" cy="554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5F8F5"/>
                </a:solidFill>
                <a:latin typeface="Verdana"/>
                <a:ea typeface="Verdana"/>
                <a:cs typeface="Verdana"/>
                <a:sym typeface="Verdana"/>
              </a:rPr>
              <a:t>Multiple sources and opt-in student cohorts.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972418" y="6047642"/>
            <a:ext cx="347472" cy="329184"/>
            <a:chOff x="0" y="0"/>
            <a:chExt cx="463296" cy="43891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63296" cy="438912"/>
            </a:xfrm>
            <a:custGeom>
              <a:avLst/>
              <a:gdLst/>
              <a:ahLst/>
              <a:cxnLst/>
              <a:rect r="r" b="b" t="t" l="l"/>
              <a:pathLst>
                <a:path h="438912" w="463296">
                  <a:moveTo>
                    <a:pt x="0" y="0"/>
                  </a:moveTo>
                  <a:lnTo>
                    <a:pt x="463296" y="0"/>
                  </a:lnTo>
                  <a:lnTo>
                    <a:pt x="46329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71550" t="0" r="-71550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463296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4AF56D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→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371763" y="5628484"/>
            <a:ext cx="4842634" cy="1355207"/>
            <a:chOff x="0" y="0"/>
            <a:chExt cx="6456845" cy="180694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456807" cy="1806829"/>
            </a:xfrm>
            <a:custGeom>
              <a:avLst/>
              <a:gdLst/>
              <a:ahLst/>
              <a:cxnLst/>
              <a:rect r="r" b="b" t="t" l="l"/>
              <a:pathLst>
                <a:path h="1806829" w="6456807">
                  <a:moveTo>
                    <a:pt x="0" y="301117"/>
                  </a:moveTo>
                  <a:cubicBezTo>
                    <a:pt x="0" y="134874"/>
                    <a:pt x="134874" y="0"/>
                    <a:pt x="301117" y="0"/>
                  </a:cubicBezTo>
                  <a:lnTo>
                    <a:pt x="6155690" y="0"/>
                  </a:lnTo>
                  <a:cubicBezTo>
                    <a:pt x="6322060" y="0"/>
                    <a:pt x="6456807" y="134874"/>
                    <a:pt x="6456807" y="301117"/>
                  </a:cubicBezTo>
                  <a:lnTo>
                    <a:pt x="6456807" y="1505712"/>
                  </a:lnTo>
                  <a:cubicBezTo>
                    <a:pt x="6456807" y="1672082"/>
                    <a:pt x="6321933" y="1806829"/>
                    <a:pt x="6155690" y="1806829"/>
                  </a:cubicBezTo>
                  <a:lnTo>
                    <a:pt x="301117" y="1806829"/>
                  </a:lnTo>
                  <a:cubicBezTo>
                    <a:pt x="134874" y="1806956"/>
                    <a:pt x="0" y="1672082"/>
                    <a:pt x="0" y="1505839"/>
                  </a:cubicBezTo>
                  <a:close/>
                </a:path>
              </a:pathLst>
            </a:custGeom>
            <a:solidFill>
              <a:srgbClr val="03180B"/>
            </a:solidFill>
            <a:ln w="14604" cap="sq">
              <a:solidFill>
                <a:srgbClr val="4AF56D"/>
              </a:solidFill>
              <a:prstDash val="solid"/>
              <a:miter/>
            </a:ln>
          </p:spPr>
        </p:sp>
      </p:grpSp>
      <p:sp>
        <p:nvSpPr>
          <p:cNvPr name="TextBox 51" id="51"/>
          <p:cNvSpPr txBox="true"/>
          <p:nvPr/>
        </p:nvSpPr>
        <p:spPr>
          <a:xfrm rot="0">
            <a:off x="10552805" y="5763425"/>
            <a:ext cx="170354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4AF56D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3  SCALE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552805" y="6221006"/>
            <a:ext cx="4480560" cy="554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5F8F5"/>
                </a:solidFill>
                <a:latin typeface="Verdana"/>
                <a:ea typeface="Verdana"/>
                <a:cs typeface="Verdana"/>
                <a:sym typeface="Verdana"/>
              </a:rPr>
              <a:t>Integrations, source freshness and institution dashboards.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807996" y="7212387"/>
            <a:ext cx="14218920" cy="612648"/>
            <a:chOff x="0" y="0"/>
            <a:chExt cx="18958560" cy="81686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8958561" cy="816864"/>
            </a:xfrm>
            <a:custGeom>
              <a:avLst/>
              <a:gdLst/>
              <a:ahLst/>
              <a:cxnLst/>
              <a:rect r="r" b="b" t="t" l="l"/>
              <a:pathLst>
                <a:path h="816864" w="18958561">
                  <a:moveTo>
                    <a:pt x="0" y="0"/>
                  </a:moveTo>
                  <a:lnTo>
                    <a:pt x="18958561" y="0"/>
                  </a:lnTo>
                  <a:lnTo>
                    <a:pt x="18958561" y="816864"/>
                  </a:lnTo>
                  <a:lnTo>
                    <a:pt x="0" y="81686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02227" r="0" b="-40222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18958560" cy="816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3"/>
                </a:lnSpc>
              </a:pPr>
              <a:r>
                <a:rPr lang="en-US" sz="1619" b="true">
                  <a:solidFill>
                    <a:srgbClr val="F5F8F5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SUCCESS MEASURES: 100% of “verified” claims have valid evidence references • Recruiter can inspect evidence within 60 seconds • Every job requirement receives an explicit status. These are design targets, not achieved results.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" y="1264148"/>
            <a:ext cx="3048000" cy="3752850"/>
            <a:chOff x="0" y="0"/>
            <a:chExt cx="4064000" cy="5003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4000" cy="5003800"/>
            </a:xfrm>
            <a:custGeom>
              <a:avLst/>
              <a:gdLst/>
              <a:ahLst/>
              <a:cxnLst/>
              <a:rect r="r" b="b" t="t" l="l"/>
              <a:pathLst>
                <a:path h="50038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5003800"/>
                  </a:lnTo>
                  <a:lnTo>
                    <a:pt x="0" y="5003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923939" y="1264148"/>
            <a:ext cx="3048000" cy="3752850"/>
            <a:chOff x="0" y="0"/>
            <a:chExt cx="4064000" cy="5003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64000" cy="5003800"/>
            </a:xfrm>
            <a:custGeom>
              <a:avLst/>
              <a:gdLst/>
              <a:ahLst/>
              <a:cxnLst/>
              <a:rect r="r" b="b" t="t" l="l"/>
              <a:pathLst>
                <a:path h="50038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5003800"/>
                  </a:lnTo>
                  <a:lnTo>
                    <a:pt x="0" y="5003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" r="0" b="-2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5973425" cy="8934450"/>
            <a:chOff x="0" y="0"/>
            <a:chExt cx="21297900" cy="11912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97900" cy="11912600"/>
            </a:xfrm>
            <a:custGeom>
              <a:avLst/>
              <a:gdLst/>
              <a:ahLst/>
              <a:cxnLst/>
              <a:rect r="r" b="b" t="t" l="l"/>
              <a:pathLst>
                <a:path h="1191260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11912600"/>
                  </a:lnTo>
                  <a:lnTo>
                    <a:pt x="0" y="1191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4" r="0" b="-6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5925800" cy="8934450"/>
            <a:chOff x="0" y="0"/>
            <a:chExt cx="21234400" cy="11912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234400" cy="11912600"/>
            </a:xfrm>
            <a:custGeom>
              <a:avLst/>
              <a:gdLst/>
              <a:ahLst/>
              <a:cxnLst/>
              <a:rect r="r" b="b" t="t" l="l"/>
              <a:pathLst>
                <a:path h="11912600" w="21234400">
                  <a:moveTo>
                    <a:pt x="21234400" y="11912600"/>
                  </a:moveTo>
                  <a:lnTo>
                    <a:pt x="0" y="11912600"/>
                  </a:lnTo>
                  <a:lnTo>
                    <a:pt x="0" y="0"/>
                  </a:lnTo>
                  <a:lnTo>
                    <a:pt x="21234400" y="0"/>
                  </a:lnTo>
                  <a:lnTo>
                    <a:pt x="21234400" y="11912600"/>
                  </a:lnTo>
                  <a:close/>
                </a:path>
              </a:pathLst>
            </a:custGeom>
            <a:solidFill>
              <a:srgbClr val="000000">
                <a:alpha val="8627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602374" y="1264148"/>
            <a:ext cx="8763000" cy="190500"/>
            <a:chOff x="0" y="0"/>
            <a:chExt cx="11684000" cy="25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68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11684000">
                  <a:moveTo>
                    <a:pt x="0" y="0"/>
                  </a:moveTo>
                  <a:lnTo>
                    <a:pt x="11684000" y="0"/>
                  </a:lnTo>
                  <a:lnTo>
                    <a:pt x="11684000" y="254000"/>
                  </a:lnTo>
                  <a:lnTo>
                    <a:pt x="0" y="25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5" r="0" b="-16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602374" y="3176378"/>
            <a:ext cx="1647825" cy="247650"/>
            <a:chOff x="0" y="0"/>
            <a:chExt cx="2197100" cy="330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7100" cy="330200"/>
            </a:xfrm>
            <a:custGeom>
              <a:avLst/>
              <a:gdLst/>
              <a:ahLst/>
              <a:cxnLst/>
              <a:rect r="r" b="b" t="t" l="l"/>
              <a:pathLst>
                <a:path h="330200" w="2197100">
                  <a:moveTo>
                    <a:pt x="0" y="0"/>
                  </a:moveTo>
                  <a:lnTo>
                    <a:pt x="2197100" y="0"/>
                  </a:lnTo>
                  <a:lnTo>
                    <a:pt x="2197100" y="330200"/>
                  </a:lnTo>
                  <a:lnTo>
                    <a:pt x="0" y="33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53" t="0" r="-454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770851" y="3220574"/>
            <a:ext cx="1600200" cy="238125"/>
            <a:chOff x="0" y="0"/>
            <a:chExt cx="2133600" cy="317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33600" cy="317500"/>
            </a:xfrm>
            <a:custGeom>
              <a:avLst/>
              <a:gdLst/>
              <a:ahLst/>
              <a:cxnLst/>
              <a:rect r="r" b="b" t="t" l="l"/>
              <a:pathLst>
                <a:path h="317500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317500"/>
                  </a:lnTo>
                  <a:lnTo>
                    <a:pt x="0" y="31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43" r="0" b="-4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42867" y="34623"/>
            <a:ext cx="1933575" cy="828675"/>
            <a:chOff x="0" y="0"/>
            <a:chExt cx="2578100" cy="11049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781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578100">
                  <a:moveTo>
                    <a:pt x="0" y="0"/>
                  </a:moveTo>
                  <a:lnTo>
                    <a:pt x="2578100" y="0"/>
                  </a:lnTo>
                  <a:lnTo>
                    <a:pt x="2578100" y="11049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27851"/>
            <a:ext cx="590550" cy="828675"/>
            <a:chOff x="0" y="0"/>
            <a:chExt cx="787400" cy="11049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74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787400">
                  <a:moveTo>
                    <a:pt x="0" y="0"/>
                  </a:moveTo>
                  <a:lnTo>
                    <a:pt x="787400" y="0"/>
                  </a:lnTo>
                  <a:lnTo>
                    <a:pt x="787400" y="11049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66" t="0" r="-467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064891" y="76724"/>
            <a:ext cx="1819275" cy="1038225"/>
            <a:chOff x="0" y="0"/>
            <a:chExt cx="2425700" cy="13843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25700" cy="1384300"/>
            </a:xfrm>
            <a:custGeom>
              <a:avLst/>
              <a:gdLst/>
              <a:ahLst/>
              <a:cxnLst/>
              <a:rect r="r" b="b" t="t" l="l"/>
              <a:pathLst>
                <a:path h="1384300" w="2425700">
                  <a:moveTo>
                    <a:pt x="0" y="0"/>
                  </a:moveTo>
                  <a:lnTo>
                    <a:pt x="2425700" y="0"/>
                  </a:lnTo>
                  <a:lnTo>
                    <a:pt x="2425700" y="1384300"/>
                  </a:lnTo>
                  <a:lnTo>
                    <a:pt x="0" y="138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65" r="0" b="-66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823448" y="4904232"/>
            <a:ext cx="1630680" cy="582168"/>
            <a:chOff x="0" y="0"/>
            <a:chExt cx="2174240" cy="77622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74240" cy="776224"/>
            </a:xfrm>
            <a:custGeom>
              <a:avLst/>
              <a:gdLst/>
              <a:ahLst/>
              <a:cxnLst/>
              <a:rect r="r" b="b" t="t" l="l"/>
              <a:pathLst>
                <a:path h="776224" w="2174240">
                  <a:moveTo>
                    <a:pt x="0" y="0"/>
                  </a:moveTo>
                  <a:lnTo>
                    <a:pt x="2174240" y="0"/>
                  </a:lnTo>
                  <a:lnTo>
                    <a:pt x="2174240" y="776224"/>
                  </a:lnTo>
                  <a:lnTo>
                    <a:pt x="0" y="776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93" t="0" r="-93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620206" y="6060024"/>
            <a:ext cx="1304925" cy="371475"/>
            <a:chOff x="0" y="0"/>
            <a:chExt cx="1739900" cy="4953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39900" cy="495300"/>
            </a:xfrm>
            <a:custGeom>
              <a:avLst/>
              <a:gdLst/>
              <a:ahLst/>
              <a:cxnLst/>
              <a:rect r="r" b="b" t="t" l="l"/>
              <a:pathLst>
                <a:path h="495300" w="1739900">
                  <a:moveTo>
                    <a:pt x="0" y="0"/>
                  </a:moveTo>
                  <a:lnTo>
                    <a:pt x="1739900" y="0"/>
                  </a:lnTo>
                  <a:lnTo>
                    <a:pt x="17399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489" t="0" r="-488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127830" y="3992699"/>
            <a:ext cx="9712089" cy="1866750"/>
            <a:chOff x="0" y="0"/>
            <a:chExt cx="12906388" cy="248072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906502" cy="2480761"/>
            </a:xfrm>
            <a:custGeom>
              <a:avLst/>
              <a:gdLst/>
              <a:ahLst/>
              <a:cxnLst/>
              <a:rect r="r" b="b" t="t" l="l"/>
              <a:pathLst>
                <a:path h="2480761" w="12906502">
                  <a:moveTo>
                    <a:pt x="0" y="413488"/>
                  </a:moveTo>
                  <a:cubicBezTo>
                    <a:pt x="0" y="185136"/>
                    <a:pt x="260604" y="0"/>
                    <a:pt x="582041" y="0"/>
                  </a:cubicBezTo>
                  <a:lnTo>
                    <a:pt x="12324461" y="0"/>
                  </a:lnTo>
                  <a:cubicBezTo>
                    <a:pt x="12645898" y="0"/>
                    <a:pt x="12906502" y="185136"/>
                    <a:pt x="12906502" y="413488"/>
                  </a:cubicBezTo>
                  <a:lnTo>
                    <a:pt x="12906502" y="2067261"/>
                  </a:lnTo>
                  <a:cubicBezTo>
                    <a:pt x="12906502" y="2295613"/>
                    <a:pt x="12645898" y="2480761"/>
                    <a:pt x="12324461" y="2480761"/>
                  </a:cubicBezTo>
                  <a:lnTo>
                    <a:pt x="582041" y="2480761"/>
                  </a:lnTo>
                  <a:cubicBezTo>
                    <a:pt x="260604" y="2480760"/>
                    <a:pt x="0" y="2295613"/>
                    <a:pt x="0" y="2067261"/>
                  </a:cubicBezTo>
                  <a:close/>
                </a:path>
              </a:pathLst>
            </a:custGeom>
            <a:solidFill>
              <a:srgbClr val="03180B"/>
            </a:solidFill>
            <a:ln w="17780" cap="sq">
              <a:solidFill>
                <a:srgbClr val="4AF56D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3331950" y="3848557"/>
            <a:ext cx="9357150" cy="2111347"/>
            <a:chOff x="0" y="0"/>
            <a:chExt cx="12476201" cy="281512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476197" cy="2815126"/>
            </a:xfrm>
            <a:custGeom>
              <a:avLst/>
              <a:gdLst/>
              <a:ahLst/>
              <a:cxnLst/>
              <a:rect r="r" b="b" t="t" l="l"/>
              <a:pathLst>
                <a:path h="2815126" w="12476197">
                  <a:moveTo>
                    <a:pt x="0" y="0"/>
                  </a:moveTo>
                  <a:lnTo>
                    <a:pt x="12476197" y="0"/>
                  </a:lnTo>
                  <a:lnTo>
                    <a:pt x="12476197" y="2815126"/>
                  </a:lnTo>
                  <a:lnTo>
                    <a:pt x="0" y="2815126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36354" r="0" b="-3635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2476201" cy="2834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7DD95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Presented by Team CodeCatalysts </a:t>
              </a:r>
            </a:p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7DD95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Project: Skill Passport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770851" y="6036107"/>
            <a:ext cx="1692145" cy="454676"/>
            <a:chOff x="0" y="0"/>
            <a:chExt cx="2256193" cy="6062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56197" cy="606239"/>
            </a:xfrm>
            <a:custGeom>
              <a:avLst/>
              <a:gdLst/>
              <a:ahLst/>
              <a:cxnLst/>
              <a:rect r="r" b="b" t="t" l="l"/>
              <a:pathLst>
                <a:path h="606239" w="2256197">
                  <a:moveTo>
                    <a:pt x="0" y="0"/>
                  </a:moveTo>
                  <a:lnTo>
                    <a:pt x="2256197" y="0"/>
                  </a:lnTo>
                  <a:lnTo>
                    <a:pt x="2256197" y="606239"/>
                  </a:lnTo>
                  <a:lnTo>
                    <a:pt x="0" y="606239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22516" r="0" b="-2251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2256193" cy="625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D1DACD"/>
                  </a:solidFill>
                  <a:latin typeface="Arial"/>
                  <a:ea typeface="Arial"/>
                  <a:cs typeface="Arial"/>
                  <a:sym typeface="Arial"/>
                </a:rPr>
                <a:t>POWERED BY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0" y="7042080"/>
            <a:ext cx="904291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80"/>
              </a:lnSpc>
              <a:spcBef>
                <a:spcPct val="0"/>
              </a:spcBef>
            </a:pPr>
            <a:r>
              <a:rPr lang="en-US" sz="7650">
                <a:solidFill>
                  <a:srgbClr val="7ED957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THANK YOU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279418" y="1134180"/>
            <a:ext cx="7363896" cy="2013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7"/>
              </a:lnSpc>
            </a:pPr>
            <a:r>
              <a:rPr lang="en-US" b="true" sz="9598" i="true">
                <a:solidFill>
                  <a:srgbClr val="7ED957"/>
                </a:solidFill>
                <a:latin typeface="Jaturat Semi-Bold Italics"/>
                <a:ea typeface="Jaturat Semi-Bold Italics"/>
                <a:cs typeface="Jaturat Semi-Bold Italics"/>
                <a:sym typeface="Jaturat Semi-Bold Italics"/>
              </a:rPr>
              <a:t>CODE APEX</a:t>
            </a:r>
          </a:p>
        </p:txBody>
      </p:sp>
      <p:sp>
        <p:nvSpPr>
          <p:cNvPr name="TextBox 36" id="36"/>
          <p:cNvSpPr txBox="true"/>
          <p:nvPr/>
        </p:nvSpPr>
        <p:spPr>
          <a:xfrm rot="-10800000">
            <a:off x="5449753" y="3131277"/>
            <a:ext cx="5121545" cy="483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4"/>
              </a:lnSpc>
            </a:pPr>
            <a:r>
              <a:rPr lang="en-US" sz="2824">
                <a:solidFill>
                  <a:srgbClr val="7ED957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BUILD BEFORE IT DOES.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DAHXiDMPLtY</dc:identifier>
  <dcterms:modified xsi:type="dcterms:W3CDTF">2011-08-01T06:04:30Z</dcterms:modified>
  <cp:revision>1</cp:revision>
  <dc:title>THE END IS COMING.</dc:title>
</cp:coreProperties>
</file>